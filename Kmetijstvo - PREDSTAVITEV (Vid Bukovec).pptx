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5" r:id="rId16"/>
    <p:sldId id="260" r:id="rId11"/>
    <p:sldId id="271" r:id="rId22"/>
    <p:sldId id="261" r:id="rId12"/>
    <p:sldId id="269" r:id="rId20"/>
    <p:sldId id="268" r:id="rId19"/>
    <p:sldId id="262" r:id="rId13"/>
    <p:sldId id="266" r:id="rId17"/>
    <p:sldId id="263" r:id="rId14"/>
    <p:sldId id="287" r:id="rId62"/>
    <p:sldId id="264" r:id="rId15"/>
    <p:sldId id="267" r:id="rId18"/>
    <p:sldId id="273" r:id="rId24"/>
  </p:sldIdLst>
  <p:sldSz cy="5143500" cx="9144000"/>
  <p:notesSz cx="6858000" cy="9144000"/>
  <p:embeddedFontLst>
    <p:embeddedFont>
      <p:font typeface="Roboto"/>
      <p:regular r:id="rId38"/>
      <p:bold r:id="rId39"/>
      <p:italic r:id="rId40"/>
      <p:boldItalic r:id="rId41"/>
    </p:embeddedFont>
    <p:embeddedFont>
      <p:font typeface="Inter"/>
      <p:regular r:id="rId42"/>
      <p:bold r:id="rId43"/>
      <p:italic r:id="rId44"/>
      <p:boldItalic r:id="rId45"/>
    </p:embeddedFont>
    <p:embeddedFont>
      <p:font typeface="Anaheim"/>
      <p:regular r:id="rId46"/>
      <p:bold r:id="rId47"/>
    </p:embeddedFont>
    <p:embeddedFont>
      <p:font typeface="Hind"/>
      <p:regular r:id="rId48"/>
      <p:bold r:id="rId49"/>
    </p:embeddedFont>
    <p:embeddedFont>
      <p:font typeface="Montserrat Medium"/>
      <p:regular r:id="rId50"/>
      <p:bold r:id="rId51"/>
      <p:italic r:id="rId52"/>
      <p:boldItalic r:id="rId53"/>
    </p:embeddedFont>
    <p:embeddedFont>
      <p:font typeface="Space Grotesk Medium"/>
      <p:regular r:id="rId54"/>
      <p:bold r:id="rId55"/>
    </p:embeddedFont>
    <p:embeddedFont>
      <p:font typeface="Space Grotesk"/>
      <p:regular r:id="rId56"/>
      <p:bold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8EB3CA-5A69-4F69-84D4-D4723024E3FF}">
  <a:tblStyle styleId="{268EB3CA-5A69-4F69-84D4-D4723024E3F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Inter-regular.fntdata"/><Relationship Id="rId41" Type="http://schemas.openxmlformats.org/officeDocument/2006/relationships/font" Target="fonts/Roboto-boldItalic.fntdata"/><Relationship Id="rId44" Type="http://schemas.openxmlformats.org/officeDocument/2006/relationships/font" Target="fonts/Inter-italic.fntdata"/><Relationship Id="rId43" Type="http://schemas.openxmlformats.org/officeDocument/2006/relationships/font" Target="fonts/Inter-bold.fntdata"/><Relationship Id="rId46" Type="http://schemas.openxmlformats.org/officeDocument/2006/relationships/font" Target="fonts/Anaheim-regular.fntdata"/><Relationship Id="rId45"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Hind-regular.fntdata"/><Relationship Id="rId47" Type="http://schemas.openxmlformats.org/officeDocument/2006/relationships/font" Target="fonts/Anaheim-bold.fntdata"/><Relationship Id="rId49" Type="http://schemas.openxmlformats.org/officeDocument/2006/relationships/font" Target="fonts/Hin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9" Type="http://schemas.openxmlformats.org/officeDocument/2006/relationships/font" Target="fonts/Roboto-bold.fntdata"/><Relationship Id="rId38" Type="http://schemas.openxmlformats.org/officeDocument/2006/relationships/font" Target="fonts/Roboto-regular.fntdata"/><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4" Type="http://schemas.openxmlformats.org/officeDocument/2006/relationships/slide" Target="slides/slide18.xml"/><Relationship Id="rId60" Type="http://schemas.openxmlformats.org/officeDocument/2006/relationships/font" Target="fonts/OpenSans-italic.fntdata"/><Relationship Id="rId51" Type="http://schemas.openxmlformats.org/officeDocument/2006/relationships/font" Target="fonts/MontserratMedium-bold.fntdata"/><Relationship Id="rId50" Type="http://schemas.openxmlformats.org/officeDocument/2006/relationships/font" Target="fonts/MontserratMedium-regular.fntdata"/><Relationship Id="rId53" Type="http://schemas.openxmlformats.org/officeDocument/2006/relationships/font" Target="fonts/MontserratMedium-boldItalic.fntdata"/><Relationship Id="rId52" Type="http://schemas.openxmlformats.org/officeDocument/2006/relationships/font" Target="fonts/MontserratMedium-italic.fntdata"/><Relationship Id="rId11" Type="http://schemas.openxmlformats.org/officeDocument/2006/relationships/slide" Target="slides/slide5.xml"/><Relationship Id="rId55" Type="http://schemas.openxmlformats.org/officeDocument/2006/relationships/font" Target="fonts/SpaceGroteskMedium-bold.fntdata"/><Relationship Id="rId10" Type="http://schemas.openxmlformats.org/officeDocument/2006/relationships/slide" Target="slides/slide4.xml"/><Relationship Id="rId54" Type="http://schemas.openxmlformats.org/officeDocument/2006/relationships/font" Target="fonts/SpaceGroteskMedium-regular.fntdata"/><Relationship Id="rId13" Type="http://schemas.openxmlformats.org/officeDocument/2006/relationships/slide" Target="slides/slide7.xml"/><Relationship Id="rId57" Type="http://schemas.openxmlformats.org/officeDocument/2006/relationships/font" Target="fonts/SpaceGrotesk-bold.fntdata"/><Relationship Id="rId12" Type="http://schemas.openxmlformats.org/officeDocument/2006/relationships/slide" Target="slides/slide6.xml"/><Relationship Id="rId56" Type="http://schemas.openxmlformats.org/officeDocument/2006/relationships/font" Target="fonts/SpaceGrotesk-regular.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62" Type="http://schemas.openxmlformats.org/officeDocument/2006/relationships/slide" Target="slides/slide32.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54dda194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54dda194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0450b265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0450b265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0450b265e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0450b265e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0450b265e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0450b265e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0450b265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0450b265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0450b265e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0450b265e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f0987538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f0987538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228600" y="444150"/>
            <a:ext cx="7723200" cy="243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7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672050" y="3009750"/>
            <a:ext cx="6243300" cy="8289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263300" y="803100"/>
            <a:ext cx="1652100" cy="11082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 name="Google Shape;17;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 name="Google Shape;20;p5"/>
          <p:cNvSpPr txBox="1"/>
          <p:nvPr>
            <p:ph idx="1" type="subTitle"/>
          </p:nvPr>
        </p:nvSpPr>
        <p:spPr>
          <a:xfrm>
            <a:off x="4408725" y="3456300"/>
            <a:ext cx="4506600" cy="923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 name="Google Shape;21;p5"/>
          <p:cNvSpPr txBox="1"/>
          <p:nvPr>
            <p:ph idx="2" type="subTitle"/>
          </p:nvPr>
        </p:nvSpPr>
        <p:spPr>
          <a:xfrm>
            <a:off x="228622" y="1397700"/>
            <a:ext cx="8686800" cy="9234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 name="Google Shape;22;p5"/>
          <p:cNvSpPr txBox="1"/>
          <p:nvPr>
            <p:ph idx="3" type="subTitle"/>
          </p:nvPr>
        </p:nvSpPr>
        <p:spPr>
          <a:xfrm>
            <a:off x="228600" y="1042800"/>
            <a:ext cx="8686800" cy="431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23" name="Google Shape;23;p5"/>
          <p:cNvSpPr txBox="1"/>
          <p:nvPr>
            <p:ph idx="4" type="subTitle"/>
          </p:nvPr>
        </p:nvSpPr>
        <p:spPr>
          <a:xfrm>
            <a:off x="4408771" y="3101400"/>
            <a:ext cx="4506600" cy="431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24" name="Google Shape;24;p5"/>
          <p:cNvSpPr/>
          <p:nvPr>
            <p:ph idx="5" type="pic"/>
          </p:nvPr>
        </p:nvSpPr>
        <p:spPr>
          <a:xfrm flipH="1">
            <a:off x="228599" y="2807700"/>
            <a:ext cx="3693600" cy="18657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720000" y="445019"/>
            <a:ext cx="4763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7"/>
          <p:cNvSpPr txBox="1"/>
          <p:nvPr>
            <p:ph idx="1" type="subTitle"/>
          </p:nvPr>
        </p:nvSpPr>
        <p:spPr>
          <a:xfrm>
            <a:off x="713225" y="1790975"/>
            <a:ext cx="4294800" cy="1908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Open Sans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1768550" y="1307100"/>
            <a:ext cx="56070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txBox="1"/>
          <p:nvPr>
            <p:ph type="title"/>
          </p:nvPr>
        </p:nvSpPr>
        <p:spPr>
          <a:xfrm>
            <a:off x="2135550" y="1441675"/>
            <a:ext cx="4872900" cy="1187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34" name="Google Shape;34;p9"/>
          <p:cNvSpPr txBox="1"/>
          <p:nvPr>
            <p:ph idx="1" type="subTitle"/>
          </p:nvPr>
        </p:nvSpPr>
        <p:spPr>
          <a:xfrm>
            <a:off x="2135550" y="278462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10"/>
          <p:cNvSpPr/>
          <p:nvPr>
            <p:ph idx="2" type="pic"/>
          </p:nvPr>
        </p:nvSpPr>
        <p:spPr>
          <a:xfrm>
            <a:off x="0" y="0"/>
            <a:ext cx="9144000" cy="5143500"/>
          </a:xfrm>
          <a:prstGeom prst="rect">
            <a:avLst/>
          </a:prstGeom>
          <a:noFill/>
          <a:ln>
            <a:noFill/>
          </a:ln>
        </p:spPr>
      </p:sp>
      <p:sp>
        <p:nvSpPr>
          <p:cNvPr id="37" name="Google Shape;37;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2600"/>
              <a:buNone/>
              <a:defRPr sz="2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11"/>
          <p:cNvSpPr txBox="1"/>
          <p:nvPr>
            <p:ph hasCustomPrompt="1" type="title"/>
          </p:nvPr>
        </p:nvSpPr>
        <p:spPr>
          <a:xfrm>
            <a:off x="228600" y="1313400"/>
            <a:ext cx="6576000" cy="13236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74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 name="Google Shape;40;p11"/>
          <p:cNvSpPr txBox="1"/>
          <p:nvPr>
            <p:ph idx="1" type="subTitle"/>
          </p:nvPr>
        </p:nvSpPr>
        <p:spPr>
          <a:xfrm>
            <a:off x="4803000" y="3399000"/>
            <a:ext cx="4112400" cy="431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1" name="Shape 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2" name="Shape 42"/>
        <p:cNvGrpSpPr/>
        <p:nvPr/>
      </p:nvGrpSpPr>
      <p:grpSpPr>
        <a:xfrm>
          <a:off x="0" y="0"/>
          <a:ext cx="0" cy="0"/>
          <a:chOff x="0" y="0"/>
          <a:chExt cx="0" cy="0"/>
        </a:xfrm>
      </p:grpSpPr>
      <p:sp>
        <p:nvSpPr>
          <p:cNvPr id="43" name="Google Shape;43;p13"/>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4" name="Google Shape;44;p13"/>
          <p:cNvSpPr txBox="1"/>
          <p:nvPr>
            <p:ph hasCustomPrompt="1" idx="2" type="title"/>
          </p:nvPr>
        </p:nvSpPr>
        <p:spPr>
          <a:xfrm>
            <a:off x="228600" y="895940"/>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 name="Google Shape;45;p13"/>
          <p:cNvSpPr txBox="1"/>
          <p:nvPr>
            <p:ph hasCustomPrompt="1" idx="3" type="title"/>
          </p:nvPr>
        </p:nvSpPr>
        <p:spPr>
          <a:xfrm>
            <a:off x="228600" y="2280565"/>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 name="Google Shape;46;p13"/>
          <p:cNvSpPr txBox="1"/>
          <p:nvPr>
            <p:ph hasCustomPrompt="1" idx="4" type="title"/>
          </p:nvPr>
        </p:nvSpPr>
        <p:spPr>
          <a:xfrm>
            <a:off x="2751896" y="895940"/>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p:nvPr>
            <p:ph hasCustomPrompt="1" idx="5" type="title"/>
          </p:nvPr>
        </p:nvSpPr>
        <p:spPr>
          <a:xfrm>
            <a:off x="2751896" y="2280575"/>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 name="Google Shape;48;p13"/>
          <p:cNvSpPr txBox="1"/>
          <p:nvPr>
            <p:ph hasCustomPrompt="1" idx="6" type="title"/>
          </p:nvPr>
        </p:nvSpPr>
        <p:spPr>
          <a:xfrm>
            <a:off x="228599" y="3665190"/>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 name="Google Shape;49;p13"/>
          <p:cNvSpPr txBox="1"/>
          <p:nvPr>
            <p:ph hasCustomPrompt="1" idx="7" type="title"/>
          </p:nvPr>
        </p:nvSpPr>
        <p:spPr>
          <a:xfrm>
            <a:off x="2751899" y="3665211"/>
            <a:ext cx="734700" cy="5541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 name="Google Shape;50;p13"/>
          <p:cNvSpPr txBox="1"/>
          <p:nvPr>
            <p:ph idx="1" type="subTitle"/>
          </p:nvPr>
        </p:nvSpPr>
        <p:spPr>
          <a:xfrm>
            <a:off x="228600" y="1373838"/>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1" name="Google Shape;51;p13"/>
          <p:cNvSpPr txBox="1"/>
          <p:nvPr>
            <p:ph idx="8" type="subTitle"/>
          </p:nvPr>
        </p:nvSpPr>
        <p:spPr>
          <a:xfrm>
            <a:off x="2751900" y="1373838"/>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2" name="Google Shape;52;p13"/>
          <p:cNvSpPr txBox="1"/>
          <p:nvPr>
            <p:ph idx="9" type="subTitle"/>
          </p:nvPr>
        </p:nvSpPr>
        <p:spPr>
          <a:xfrm>
            <a:off x="228600" y="4143100"/>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3" name="Google Shape;53;p13"/>
          <p:cNvSpPr txBox="1"/>
          <p:nvPr>
            <p:ph idx="13" type="subTitle"/>
          </p:nvPr>
        </p:nvSpPr>
        <p:spPr>
          <a:xfrm>
            <a:off x="228600" y="2781540"/>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4" name="Google Shape;54;p13"/>
          <p:cNvSpPr txBox="1"/>
          <p:nvPr>
            <p:ph idx="14" type="subTitle"/>
          </p:nvPr>
        </p:nvSpPr>
        <p:spPr>
          <a:xfrm>
            <a:off x="2751900" y="2781540"/>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5" name="Google Shape;55;p13"/>
          <p:cNvSpPr txBox="1"/>
          <p:nvPr>
            <p:ph idx="15" type="subTitle"/>
          </p:nvPr>
        </p:nvSpPr>
        <p:spPr>
          <a:xfrm>
            <a:off x="2751900" y="4143202"/>
            <a:ext cx="2142300" cy="677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56" name="Google Shape;56;p13"/>
          <p:cNvSpPr/>
          <p:nvPr>
            <p:ph idx="16" type="pic"/>
          </p:nvPr>
        </p:nvSpPr>
        <p:spPr>
          <a:xfrm>
            <a:off x="5655325" y="895950"/>
            <a:ext cx="3260100" cy="40188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57" name="Shape 57"/>
        <p:cNvGrpSpPr/>
        <p:nvPr/>
      </p:nvGrpSpPr>
      <p:grpSpPr>
        <a:xfrm>
          <a:off x="0" y="0"/>
          <a:ext cx="0" cy="0"/>
          <a:chOff x="0" y="0"/>
          <a:chExt cx="0" cy="0"/>
        </a:xfrm>
      </p:grpSpPr>
      <p:sp>
        <p:nvSpPr>
          <p:cNvPr id="58" name="Google Shape;58;p14"/>
          <p:cNvSpPr txBox="1"/>
          <p:nvPr>
            <p:ph type="title"/>
          </p:nvPr>
        </p:nvSpPr>
        <p:spPr>
          <a:xfrm>
            <a:off x="228600" y="888300"/>
            <a:ext cx="7496100" cy="1507800"/>
          </a:xfrm>
          <a:prstGeom prst="rect">
            <a:avLst/>
          </a:prstGeom>
        </p:spPr>
        <p:txBody>
          <a:bodyPr anchorCtr="0" anchor="b"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9" name="Google Shape;59;p14"/>
          <p:cNvSpPr txBox="1"/>
          <p:nvPr>
            <p:ph idx="1" type="subTitle"/>
          </p:nvPr>
        </p:nvSpPr>
        <p:spPr>
          <a:xfrm>
            <a:off x="2528775" y="2624550"/>
            <a:ext cx="6387300" cy="163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200"/>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60" name="Shape 60"/>
        <p:cNvGrpSpPr/>
        <p:nvPr/>
      </p:nvGrpSpPr>
      <p:grpSpPr>
        <a:xfrm>
          <a:off x="0" y="0"/>
          <a:ext cx="0" cy="0"/>
          <a:chOff x="0" y="0"/>
          <a:chExt cx="0" cy="0"/>
        </a:xfrm>
      </p:grpSpPr>
      <p:sp>
        <p:nvSpPr>
          <p:cNvPr id="61" name="Google Shape;61;p15"/>
          <p:cNvSpPr txBox="1"/>
          <p:nvPr>
            <p:ph type="title"/>
          </p:nvPr>
        </p:nvSpPr>
        <p:spPr>
          <a:xfrm>
            <a:off x="228600" y="228600"/>
            <a:ext cx="4263000" cy="985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2" name="Google Shape;62;p15"/>
          <p:cNvSpPr txBox="1"/>
          <p:nvPr>
            <p:ph idx="1" type="subTitle"/>
          </p:nvPr>
        </p:nvSpPr>
        <p:spPr>
          <a:xfrm>
            <a:off x="228600" y="2215200"/>
            <a:ext cx="4356000" cy="26997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63" name="Google Shape;63;p15"/>
          <p:cNvSpPr/>
          <p:nvPr>
            <p:ph idx="2" type="pic"/>
          </p:nvPr>
        </p:nvSpPr>
        <p:spPr>
          <a:xfrm>
            <a:off x="4778100" y="228600"/>
            <a:ext cx="4137300" cy="46863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4" name="Shape 64"/>
        <p:cNvGrpSpPr/>
        <p:nvPr/>
      </p:nvGrpSpPr>
      <p:grpSpPr>
        <a:xfrm>
          <a:off x="0" y="0"/>
          <a:ext cx="0" cy="0"/>
          <a:chOff x="0" y="0"/>
          <a:chExt cx="0" cy="0"/>
        </a:xfrm>
      </p:grpSpPr>
      <p:sp>
        <p:nvSpPr>
          <p:cNvPr id="65" name="Google Shape;65;p1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6" name="Google Shape;66;p16"/>
          <p:cNvSpPr txBox="1"/>
          <p:nvPr>
            <p:ph idx="1" type="subTitle"/>
          </p:nvPr>
        </p:nvSpPr>
        <p:spPr>
          <a:xfrm>
            <a:off x="4778050" y="1334504"/>
            <a:ext cx="4137300" cy="738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7" name="Google Shape;67;p16"/>
          <p:cNvSpPr txBox="1"/>
          <p:nvPr>
            <p:ph idx="2" type="subTitle"/>
          </p:nvPr>
        </p:nvSpPr>
        <p:spPr>
          <a:xfrm>
            <a:off x="4778050" y="2666116"/>
            <a:ext cx="4136700" cy="738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8" name="Google Shape;68;p16"/>
          <p:cNvSpPr txBox="1"/>
          <p:nvPr>
            <p:ph idx="3" type="subTitle"/>
          </p:nvPr>
        </p:nvSpPr>
        <p:spPr>
          <a:xfrm>
            <a:off x="4778050" y="3997725"/>
            <a:ext cx="4136700" cy="738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9" name="Google Shape;69;p16"/>
          <p:cNvSpPr txBox="1"/>
          <p:nvPr>
            <p:ph idx="4" type="subTitle"/>
          </p:nvPr>
        </p:nvSpPr>
        <p:spPr>
          <a:xfrm>
            <a:off x="4778050" y="979600"/>
            <a:ext cx="4137300" cy="43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70" name="Google Shape;70;p16"/>
          <p:cNvSpPr txBox="1"/>
          <p:nvPr>
            <p:ph idx="5" type="subTitle"/>
          </p:nvPr>
        </p:nvSpPr>
        <p:spPr>
          <a:xfrm>
            <a:off x="4778050" y="2311209"/>
            <a:ext cx="4136700" cy="43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71" name="Google Shape;71;p16"/>
          <p:cNvSpPr txBox="1"/>
          <p:nvPr>
            <p:ph idx="6" type="subTitle"/>
          </p:nvPr>
        </p:nvSpPr>
        <p:spPr>
          <a:xfrm>
            <a:off x="4778050" y="3642819"/>
            <a:ext cx="4136700" cy="43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2pPr>
            <a:lvl3pPr lvl="2"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3pPr>
            <a:lvl4pPr lvl="3"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4pPr>
            <a:lvl5pPr lvl="4"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5pPr>
            <a:lvl6pPr lvl="5"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6pPr>
            <a:lvl7pPr lvl="6"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7pPr>
            <a:lvl8pPr lvl="7"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8pPr>
            <a:lvl9pPr lvl="8" rtl="0" algn="ctr">
              <a:lnSpc>
                <a:spcPct val="100000"/>
              </a:lnSpc>
              <a:spcBef>
                <a:spcPts val="0"/>
              </a:spcBef>
              <a:spcAft>
                <a:spcPts val="0"/>
              </a:spcAft>
              <a:buSzPts val="2400"/>
              <a:buFont typeface="Space Grotesk"/>
              <a:buNone/>
              <a:defRPr sz="2400">
                <a:latin typeface="Space Grotesk"/>
                <a:ea typeface="Space Grotesk"/>
                <a:cs typeface="Space Grotesk"/>
                <a:sym typeface="Space Grotesk"/>
              </a:defRPr>
            </a:lvl9pPr>
          </a:lstStyle>
          <a:p/>
        </p:txBody>
      </p:sp>
      <p:sp>
        <p:nvSpPr>
          <p:cNvPr id="72" name="Google Shape;72;p16"/>
          <p:cNvSpPr/>
          <p:nvPr>
            <p:ph idx="7" type="pic"/>
          </p:nvPr>
        </p:nvSpPr>
        <p:spPr>
          <a:xfrm>
            <a:off x="228600" y="891600"/>
            <a:ext cx="3602700" cy="40233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3" name="Shape 73"/>
        <p:cNvGrpSpPr/>
        <p:nvPr/>
      </p:nvGrpSpPr>
      <p:grpSpPr>
        <a:xfrm>
          <a:off x="0" y="0"/>
          <a:ext cx="0" cy="0"/>
          <a:chOff x="0" y="0"/>
          <a:chExt cx="0" cy="0"/>
        </a:xfrm>
      </p:grpSpPr>
      <p:sp>
        <p:nvSpPr>
          <p:cNvPr id="74" name="Google Shape;74;p17"/>
          <p:cNvSpPr txBox="1"/>
          <p:nvPr>
            <p:ph type="title"/>
          </p:nvPr>
        </p:nvSpPr>
        <p:spPr>
          <a:xfrm>
            <a:off x="228600" y="228600"/>
            <a:ext cx="8686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5" name="Google Shape;75;p17"/>
          <p:cNvSpPr txBox="1"/>
          <p:nvPr>
            <p:ph idx="1" type="subTitle"/>
          </p:nvPr>
        </p:nvSpPr>
        <p:spPr>
          <a:xfrm>
            <a:off x="513256" y="1874225"/>
            <a:ext cx="3903300" cy="7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6" name="Google Shape;76;p17"/>
          <p:cNvSpPr txBox="1"/>
          <p:nvPr>
            <p:ph idx="2" type="subTitle"/>
          </p:nvPr>
        </p:nvSpPr>
        <p:spPr>
          <a:xfrm>
            <a:off x="4727444" y="1874225"/>
            <a:ext cx="3903300" cy="7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 name="Google Shape;77;p17"/>
          <p:cNvSpPr txBox="1"/>
          <p:nvPr>
            <p:ph idx="3" type="subTitle"/>
          </p:nvPr>
        </p:nvSpPr>
        <p:spPr>
          <a:xfrm>
            <a:off x="513256" y="3412600"/>
            <a:ext cx="3903300" cy="7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 name="Google Shape;78;p17"/>
          <p:cNvSpPr txBox="1"/>
          <p:nvPr>
            <p:ph idx="4" type="subTitle"/>
          </p:nvPr>
        </p:nvSpPr>
        <p:spPr>
          <a:xfrm>
            <a:off x="4727444" y="3412600"/>
            <a:ext cx="3903300" cy="7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17"/>
          <p:cNvSpPr txBox="1"/>
          <p:nvPr>
            <p:ph idx="5" type="subTitle"/>
          </p:nvPr>
        </p:nvSpPr>
        <p:spPr>
          <a:xfrm>
            <a:off x="513257" y="1519325"/>
            <a:ext cx="3903300" cy="43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2pPr>
            <a:lvl3pPr lvl="2"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3pPr>
            <a:lvl4pPr lvl="3"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4pPr>
            <a:lvl5pPr lvl="4"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5pPr>
            <a:lvl6pPr lvl="5"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6pPr>
            <a:lvl7pPr lvl="6"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7pPr>
            <a:lvl8pPr lvl="7"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8pPr>
            <a:lvl9pPr lvl="8"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9pPr>
          </a:lstStyle>
          <a:p/>
        </p:txBody>
      </p:sp>
      <p:sp>
        <p:nvSpPr>
          <p:cNvPr id="80" name="Google Shape;80;p17"/>
          <p:cNvSpPr txBox="1"/>
          <p:nvPr>
            <p:ph idx="6" type="subTitle"/>
          </p:nvPr>
        </p:nvSpPr>
        <p:spPr>
          <a:xfrm>
            <a:off x="513257" y="3057700"/>
            <a:ext cx="3903300" cy="43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2pPr>
            <a:lvl3pPr lvl="2"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3pPr>
            <a:lvl4pPr lvl="3"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4pPr>
            <a:lvl5pPr lvl="4"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5pPr>
            <a:lvl6pPr lvl="5"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6pPr>
            <a:lvl7pPr lvl="6"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7pPr>
            <a:lvl8pPr lvl="7"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8pPr>
            <a:lvl9pPr lvl="8"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9pPr>
          </a:lstStyle>
          <a:p/>
        </p:txBody>
      </p:sp>
      <p:sp>
        <p:nvSpPr>
          <p:cNvPr id="81" name="Google Shape;81;p17"/>
          <p:cNvSpPr txBox="1"/>
          <p:nvPr>
            <p:ph idx="7" type="subTitle"/>
          </p:nvPr>
        </p:nvSpPr>
        <p:spPr>
          <a:xfrm>
            <a:off x="4727408" y="1519325"/>
            <a:ext cx="3903300" cy="43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2pPr>
            <a:lvl3pPr lvl="2"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3pPr>
            <a:lvl4pPr lvl="3"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4pPr>
            <a:lvl5pPr lvl="4"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5pPr>
            <a:lvl6pPr lvl="5"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6pPr>
            <a:lvl7pPr lvl="6"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7pPr>
            <a:lvl8pPr lvl="7"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8pPr>
            <a:lvl9pPr lvl="8"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9pPr>
          </a:lstStyle>
          <a:p/>
        </p:txBody>
      </p:sp>
      <p:sp>
        <p:nvSpPr>
          <p:cNvPr id="82" name="Google Shape;82;p17"/>
          <p:cNvSpPr txBox="1"/>
          <p:nvPr>
            <p:ph idx="8" type="subTitle"/>
          </p:nvPr>
        </p:nvSpPr>
        <p:spPr>
          <a:xfrm>
            <a:off x="4727408" y="3057700"/>
            <a:ext cx="3903300" cy="43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Space Grotesk"/>
              <a:buNone/>
              <a:defRPr b="1" sz="16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2pPr>
            <a:lvl3pPr lvl="2"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3pPr>
            <a:lvl4pPr lvl="3"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4pPr>
            <a:lvl5pPr lvl="4"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5pPr>
            <a:lvl6pPr lvl="5"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6pPr>
            <a:lvl7pPr lvl="6"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7pPr>
            <a:lvl8pPr lvl="7"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8pPr>
            <a:lvl9pPr lvl="8" rtl="0" algn="ctr">
              <a:lnSpc>
                <a:spcPct val="100000"/>
              </a:lnSpc>
              <a:spcBef>
                <a:spcPts val="0"/>
              </a:spcBef>
              <a:spcAft>
                <a:spcPts val="0"/>
              </a:spcAft>
              <a:buSzPts val="2000"/>
              <a:buFont typeface="Space Grotesk"/>
              <a:buNone/>
              <a:defRPr b="1" sz="2000">
                <a:latin typeface="Space Grotesk"/>
                <a:ea typeface="Space Grotesk"/>
                <a:cs typeface="Space Grotesk"/>
                <a:sym typeface="Space Grotesk"/>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 name="Shape 83"/>
        <p:cNvGrpSpPr/>
        <p:nvPr/>
      </p:nvGrpSpPr>
      <p:grpSpPr>
        <a:xfrm>
          <a:off x="0" y="0"/>
          <a:ext cx="0" cy="0"/>
          <a:chOff x="0" y="0"/>
          <a:chExt cx="0" cy="0"/>
        </a:xfrm>
      </p:grpSpPr>
      <p:sp>
        <p:nvSpPr>
          <p:cNvPr id="84" name="Google Shape;84;p18"/>
          <p:cNvSpPr txBox="1"/>
          <p:nvPr>
            <p:ph type="title"/>
          </p:nvPr>
        </p:nvSpPr>
        <p:spPr>
          <a:xfrm>
            <a:off x="228603" y="669425"/>
            <a:ext cx="5617500" cy="12930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5" name="Google Shape;85;p18"/>
          <p:cNvSpPr txBox="1"/>
          <p:nvPr>
            <p:ph idx="1" type="subTitle"/>
          </p:nvPr>
        </p:nvSpPr>
        <p:spPr>
          <a:xfrm>
            <a:off x="228601" y="1962425"/>
            <a:ext cx="2605800" cy="10467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6" name="Google Shape;86;p18"/>
          <p:cNvSpPr txBox="1"/>
          <p:nvPr/>
        </p:nvSpPr>
        <p:spPr>
          <a:xfrm>
            <a:off x="6732300" y="3519775"/>
            <a:ext cx="2183100" cy="8004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b="1" lang="en" sz="1000">
                <a:solidFill>
                  <a:schemeClr val="dk1"/>
                </a:solidFill>
                <a:latin typeface="Hind"/>
                <a:ea typeface="Hind"/>
                <a:cs typeface="Hind"/>
                <a:sym typeface="Hind"/>
              </a:rPr>
              <a:t>CREDITS:</a:t>
            </a:r>
            <a:r>
              <a:rPr lang="en" sz="1000">
                <a:solidFill>
                  <a:schemeClr val="dk1"/>
                </a:solidFill>
                <a:latin typeface="Hind"/>
                <a:ea typeface="Hind"/>
                <a:cs typeface="Hind"/>
                <a:sym typeface="Hind"/>
              </a:rPr>
              <a:t xml:space="preserve"> This presentation template was created by </a:t>
            </a:r>
            <a:r>
              <a:rPr b="1" lang="en" sz="1000" u="sng">
                <a:solidFill>
                  <a:schemeClr val="dk1"/>
                </a:solidFill>
                <a:latin typeface="Hind"/>
                <a:ea typeface="Hind"/>
                <a:cs typeface="Hind"/>
                <a:sym typeface="Hind"/>
                <a:hlinkClick r:id="rId2">
                  <a:extLst>
                    <a:ext uri="{A12FA001-AC4F-418D-AE19-62706E023703}">
                      <ahyp:hlinkClr val="tx"/>
                    </a:ext>
                  </a:extLst>
                </a:hlinkClick>
              </a:rPr>
              <a:t>Slidesgo</a:t>
            </a:r>
            <a:r>
              <a:rPr lang="en" sz="1000">
                <a:solidFill>
                  <a:schemeClr val="dk1"/>
                </a:solidFill>
                <a:latin typeface="Hind"/>
                <a:ea typeface="Hind"/>
                <a:cs typeface="Hind"/>
                <a:sym typeface="Hind"/>
              </a:rPr>
              <a:t xml:space="preserve">, and includes icons, infographics &amp; images by </a:t>
            </a:r>
            <a:r>
              <a:rPr b="1" lang="en" sz="1000" u="sng">
                <a:solidFill>
                  <a:schemeClr val="dk1"/>
                </a:solidFill>
                <a:latin typeface="Hind"/>
                <a:ea typeface="Hind"/>
                <a:cs typeface="Hind"/>
                <a:sym typeface="Hind"/>
                <a:hlinkClick r:id="rId3">
                  <a:extLst>
                    <a:ext uri="{A12FA001-AC4F-418D-AE19-62706E023703}">
                      <ahyp:hlinkClr val="tx"/>
                    </a:ext>
                  </a:extLst>
                </a:hlinkClick>
              </a:rPr>
              <a:t>Freepik</a:t>
            </a:r>
            <a:r>
              <a:rPr lang="en" sz="1000" u="sng">
                <a:solidFill>
                  <a:schemeClr val="dk1"/>
                </a:solidFill>
                <a:latin typeface="Hind"/>
                <a:ea typeface="Hind"/>
                <a:cs typeface="Hind"/>
                <a:sym typeface="Hind"/>
              </a:rPr>
              <a:t xml:space="preserve"> </a:t>
            </a:r>
            <a:endParaRPr b="1" sz="1000" u="sng">
              <a:solidFill>
                <a:schemeClr val="dk1"/>
              </a:solidFill>
              <a:latin typeface="Hind"/>
              <a:ea typeface="Hind"/>
              <a:cs typeface="Hind"/>
              <a:sym typeface="Hi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7" name="Shape 8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8" name="Shape 88"/>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2" name="Shape 9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93" name="Shape 93"/>
        <p:cNvGrpSpPr/>
        <p:nvPr/>
      </p:nvGrpSpPr>
      <p:grpSpPr>
        <a:xfrm>
          <a:off x="0" y="0"/>
          <a:ext cx="0" cy="0"/>
          <a:chOff x="0" y="0"/>
          <a:chExt cx="0" cy="0"/>
        </a:xfrm>
      </p:grpSpPr>
      <p:sp>
        <p:nvSpPr>
          <p:cNvPr id="94" name="Google Shape;94;p23"/>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5" name="Google Shape;95;p2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96" name="Shape 96"/>
        <p:cNvGrpSpPr/>
        <p:nvPr/>
      </p:nvGrpSpPr>
      <p:grpSpPr>
        <a:xfrm>
          <a:off x="0" y="0"/>
          <a:ext cx="0" cy="0"/>
          <a:chOff x="0" y="0"/>
          <a:chExt cx="0" cy="0"/>
        </a:xfrm>
      </p:grpSpPr>
      <p:sp>
        <p:nvSpPr>
          <p:cNvPr id="97" name="Google Shape;97;p2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8" name="Google Shape;98;p24"/>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99" name="Google Shape;99;p24"/>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pace Grotesk"/>
              <a:buNone/>
              <a:defRPr b="1" sz="26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500"/>
              <a:buFont typeface="Space Grotesk"/>
              <a:buNone/>
              <a:defRPr b="1" sz="3500">
                <a:solidFill>
                  <a:schemeClr val="dk1"/>
                </a:solidFill>
                <a:latin typeface="Space Grotesk"/>
                <a:ea typeface="Space Grotesk"/>
                <a:cs typeface="Space Grotesk"/>
                <a:sym typeface="Space Grotesk"/>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1pPr>
            <a:lvl2pPr indent="-304800" lvl="1" marL="9144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2pPr>
            <a:lvl3pPr indent="-304800" lvl="2" marL="13716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3pPr>
            <a:lvl4pPr indent="-304800" lvl="3" marL="1828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4pPr>
            <a:lvl5pPr indent="-304800" lvl="4" marL="22860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5pPr>
            <a:lvl6pPr indent="-304800" lvl="5" marL="27432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6pPr>
            <a:lvl7pPr indent="-304800" lvl="6" marL="32004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7pPr>
            <a:lvl8pPr indent="-304800" lvl="7" marL="36576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8pPr>
            <a:lvl9pPr indent="-304800" lvl="8" marL="411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89" name="Shape 89"/>
        <p:cNvGrpSpPr/>
        <p:nvPr/>
      </p:nvGrpSpPr>
      <p:grpSpPr>
        <a:xfrm>
          <a:off x="0" y="0"/>
          <a:ext cx="0" cy="0"/>
          <a:chOff x="0" y="0"/>
          <a:chExt cx="0" cy="0"/>
        </a:xfrm>
      </p:grpSpPr>
      <p:sp>
        <p:nvSpPr>
          <p:cNvPr id="90" name="Google Shape;90;p21"/>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91" name="Google Shape;91;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piratskastranka.si/o-nas/" TargetMode="External"/></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228600" y="1947675"/>
            <a:ext cx="8544900" cy="174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200"/>
              <a:t>Kmetijstvo</a:t>
            </a:r>
            <a:endParaRPr sz="5900"/>
          </a:p>
        </p:txBody>
      </p:sp>
      <p:sp>
        <p:nvSpPr>
          <p:cNvPr id="105" name="Google Shape;105;p25"/>
          <p:cNvSpPr txBox="1"/>
          <p:nvPr>
            <p:ph idx="1" type="subTitle"/>
          </p:nvPr>
        </p:nvSpPr>
        <p:spPr>
          <a:xfrm>
            <a:off x="2672050" y="3548025"/>
            <a:ext cx="6243300" cy="828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Vid Bukovec, podpredsednik Piratske Stranke</a:t>
            </a:r>
            <a:endParaRPr/>
          </a:p>
        </p:txBody>
      </p:sp>
      <p:sp>
        <p:nvSpPr>
          <p:cNvPr id="106" name="Google Shape;106;p25"/>
          <p:cNvSpPr txBox="1"/>
          <p:nvPr/>
        </p:nvSpPr>
        <p:spPr>
          <a:xfrm>
            <a:off x="6859900" y="4479475"/>
            <a:ext cx="3088800" cy="55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Space Grotesk Medium"/>
                <a:ea typeface="Space Grotesk Medium"/>
                <a:cs typeface="Space Grotesk Medium"/>
                <a:sym typeface="Space Grotesk Medium"/>
              </a:rPr>
              <a:t>4.7.2026</a:t>
            </a:r>
            <a:endParaRPr sz="1800">
              <a:solidFill>
                <a:schemeClr val="dk1"/>
              </a:solidFill>
              <a:latin typeface="Space Grotesk Medium"/>
              <a:ea typeface="Space Grotesk Medium"/>
              <a:cs typeface="Space Grotesk Medium"/>
              <a:sym typeface="Space Grotesk Medium"/>
            </a:endParaRPr>
          </a:p>
        </p:txBody>
      </p:sp>
      <p:cxnSp>
        <p:nvCxnSpPr>
          <p:cNvPr id="107" name="Google Shape;107;p25"/>
          <p:cNvCxnSpPr/>
          <p:nvPr/>
        </p:nvCxnSpPr>
        <p:spPr>
          <a:xfrm>
            <a:off x="5219350" y="4428200"/>
            <a:ext cx="3696000" cy="0"/>
          </a:xfrm>
          <a:prstGeom prst="straightConnector1">
            <a:avLst/>
          </a:prstGeom>
          <a:noFill/>
          <a:ln cap="flat" cmpd="sng" w="9525">
            <a:solidFill>
              <a:schemeClr val="dk1"/>
            </a:solidFill>
            <a:prstDash val="solid"/>
            <a:round/>
            <a:headEnd len="med" w="med" type="none"/>
            <a:tailEnd len="med" w="med" type="none"/>
          </a:ln>
        </p:spPr>
      </p:cxnSp>
      <p:pic>
        <p:nvPicPr>
          <p:cNvPr id="108" name="Google Shape;108;p25" title="logo-01.png"/>
          <p:cNvPicPr preferRelativeResize="0"/>
          <p:nvPr/>
        </p:nvPicPr>
        <p:blipFill>
          <a:blip r:embed="rId3">
            <a:alphaModFix/>
          </a:blip>
          <a:stretch>
            <a:fillRect/>
          </a:stretch>
        </p:blipFill>
        <p:spPr>
          <a:xfrm>
            <a:off x="152400" y="152400"/>
            <a:ext cx="2920666" cy="16428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Vsebina predavanj</a:t>
            </a:r>
            <a:endParaRPr/>
          </a:p>
        </p:txBody>
      </p:sp>
      <p:sp>
        <p:nvSpPr>
          <p:cNvPr id="114" name="Google Shape;114;p26"/>
          <p:cNvSpPr txBox="1"/>
          <p:nvPr>
            <p:ph idx="2" type="title"/>
          </p:nvPr>
        </p:nvSpPr>
        <p:spPr>
          <a:xfrm>
            <a:off x="228600" y="895940"/>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15" name="Google Shape;115;p26"/>
          <p:cNvSpPr txBox="1"/>
          <p:nvPr>
            <p:ph idx="3" type="title"/>
          </p:nvPr>
        </p:nvSpPr>
        <p:spPr>
          <a:xfrm>
            <a:off x="228600" y="2280565"/>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16" name="Google Shape;116;p26"/>
          <p:cNvSpPr txBox="1"/>
          <p:nvPr>
            <p:ph idx="4" type="title"/>
          </p:nvPr>
        </p:nvSpPr>
        <p:spPr>
          <a:xfrm>
            <a:off x="2751896" y="895940"/>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17" name="Google Shape;117;p26"/>
          <p:cNvSpPr txBox="1"/>
          <p:nvPr>
            <p:ph idx="5" type="title"/>
          </p:nvPr>
        </p:nvSpPr>
        <p:spPr>
          <a:xfrm>
            <a:off x="2751896" y="2280575"/>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118" name="Google Shape;118;p26"/>
          <p:cNvSpPr txBox="1"/>
          <p:nvPr>
            <p:ph idx="6" type="title"/>
          </p:nvPr>
        </p:nvSpPr>
        <p:spPr>
          <a:xfrm>
            <a:off x="228599" y="3665190"/>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19" name="Google Shape;119;p26"/>
          <p:cNvSpPr txBox="1"/>
          <p:nvPr>
            <p:ph idx="7" type="title"/>
          </p:nvPr>
        </p:nvSpPr>
        <p:spPr>
          <a:xfrm>
            <a:off x="2751899" y="3665211"/>
            <a:ext cx="7347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120" name="Google Shape;120;p26"/>
          <p:cNvSpPr txBox="1"/>
          <p:nvPr>
            <p:ph idx="1" type="subTitle"/>
          </p:nvPr>
        </p:nvSpPr>
        <p:spPr>
          <a:xfrm>
            <a:off x="228600" y="1373838"/>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Zakaj kmetijstvo?</a:t>
            </a:r>
            <a:endParaRPr/>
          </a:p>
        </p:txBody>
      </p:sp>
      <p:sp>
        <p:nvSpPr>
          <p:cNvPr id="121" name="Google Shape;121;p26"/>
          <p:cNvSpPr txBox="1"/>
          <p:nvPr>
            <p:ph idx="8" type="subTitle"/>
          </p:nvPr>
        </p:nvSpPr>
        <p:spPr>
          <a:xfrm>
            <a:off x="2751900" y="1373838"/>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Protislovja</a:t>
            </a:r>
            <a:endParaRPr/>
          </a:p>
          <a:p>
            <a:pPr indent="0" lvl="0" marL="0" rtl="0" algn="l">
              <a:spcBef>
                <a:spcPts val="0"/>
              </a:spcBef>
              <a:spcAft>
                <a:spcPts val="0"/>
              </a:spcAft>
              <a:buNone/>
            </a:pPr>
            <a:r>
              <a:t/>
            </a:r>
            <a:endParaRPr/>
          </a:p>
        </p:txBody>
      </p:sp>
      <p:sp>
        <p:nvSpPr>
          <p:cNvPr id="122" name="Google Shape;122;p26"/>
          <p:cNvSpPr txBox="1"/>
          <p:nvPr>
            <p:ph idx="9" type="subTitle"/>
          </p:nvPr>
        </p:nvSpPr>
        <p:spPr>
          <a:xfrm>
            <a:off x="228600" y="4143100"/>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Trenutna dinamika</a:t>
            </a:r>
            <a:endParaRPr/>
          </a:p>
        </p:txBody>
      </p:sp>
      <p:sp>
        <p:nvSpPr>
          <p:cNvPr id="123" name="Google Shape;123;p26"/>
          <p:cNvSpPr txBox="1"/>
          <p:nvPr>
            <p:ph idx="13" type="subTitle"/>
          </p:nvPr>
        </p:nvSpPr>
        <p:spPr>
          <a:xfrm>
            <a:off x="228600" y="2781540"/>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Vsaka reka ima izvir</a:t>
            </a:r>
            <a:endParaRPr/>
          </a:p>
        </p:txBody>
      </p:sp>
      <p:sp>
        <p:nvSpPr>
          <p:cNvPr id="124" name="Google Shape;124;p26"/>
          <p:cNvSpPr txBox="1"/>
          <p:nvPr>
            <p:ph idx="14" type="subTitle"/>
          </p:nvPr>
        </p:nvSpPr>
        <p:spPr>
          <a:xfrm>
            <a:off x="2751900" y="2781540"/>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a:t>
            </a:r>
            <a:endParaRPr/>
          </a:p>
        </p:txBody>
      </p:sp>
      <p:sp>
        <p:nvSpPr>
          <p:cNvPr id="125" name="Google Shape;125;p26"/>
          <p:cNvSpPr txBox="1"/>
          <p:nvPr>
            <p:ph idx="15" type="subTitle"/>
          </p:nvPr>
        </p:nvSpPr>
        <p:spPr>
          <a:xfrm>
            <a:off x="2751900" y="4143202"/>
            <a:ext cx="21423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Pridelek</a:t>
            </a:r>
            <a:endParaRPr/>
          </a:p>
        </p:txBody>
      </p:sp>
      <p:pic>
        <p:nvPicPr>
          <p:cNvPr id="126" name="Google Shape;126;p26" title="PIRATSKA AKADEMIJA grb.png"/>
          <p:cNvPicPr preferRelativeResize="0"/>
          <p:nvPr/>
        </p:nvPicPr>
        <p:blipFill>
          <a:blip r:embed="rId3">
            <a:alphaModFix/>
          </a:blip>
          <a:stretch>
            <a:fillRect/>
          </a:stretch>
        </p:blipFill>
        <p:spPr>
          <a:xfrm>
            <a:off x="5499425" y="963550"/>
            <a:ext cx="3945001" cy="38567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228600" y="888300"/>
            <a:ext cx="7496100" cy="150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za tiste, ki resno mislijo s Piratsko stranko.</a:t>
            </a:r>
            <a:endParaRPr sz="4000"/>
          </a:p>
        </p:txBody>
      </p:sp>
      <p:sp>
        <p:nvSpPr>
          <p:cNvPr id="132" name="Google Shape;132;p27"/>
          <p:cNvSpPr txBox="1"/>
          <p:nvPr>
            <p:ph idx="1" type="subTitle"/>
          </p:nvPr>
        </p:nvSpPr>
        <p:spPr>
          <a:xfrm>
            <a:off x="2528775" y="2624550"/>
            <a:ext cx="6387300" cy="163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latin typeface="Open Sans"/>
                <a:ea typeface="Open Sans"/>
                <a:cs typeface="Open Sans"/>
                <a:sym typeface="Open Sans"/>
              </a:rPr>
              <a:t>Preden govorimo o ukrepih in številkah: zakaj sploh govorimo o kmetijstvu? Ker kmetijstvo ni ena panoga med mnogimi, ampak pogoj za obstoj vsega ostalega. In ker je hrana danes blago, do katerega dostopamo prek trga, je vprašanje hrane vedno tudi vprašanje moči. V tej predstavitvi sledimo eni sami reki — od izvira skozi zgodovino do pridelka.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Zakaj kmetijstvo?</a:t>
            </a:r>
            <a:endParaRPr/>
          </a:p>
        </p:txBody>
      </p:sp>
      <p:sp>
        <p:nvSpPr>
          <p:cNvPr id="138" name="Google Shape;138;p28"/>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01</a:t>
            </a:r>
            <a:endParaRPr>
              <a:solidFill>
                <a:schemeClr val="dk1"/>
              </a:solidFill>
            </a:endParaRPr>
          </a:p>
        </p:txBody>
      </p:sp>
      <p:sp>
        <p:nvSpPr>
          <p:cNvPr id="139" name="Google Shape;139;p28"/>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Zakaj sploh govorimo o kmetijstvu</a:t>
            </a:r>
            <a:endParaRPr/>
          </a:p>
        </p:txBody>
      </p:sp>
      <p:cxnSp>
        <p:nvCxnSpPr>
          <p:cNvPr id="140" name="Google Shape;140;p28"/>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41" name="Google Shape;141;p28"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9"/>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Vsaka reka ima izvir</a:t>
            </a:r>
            <a:endParaRPr/>
          </a:p>
        </p:txBody>
      </p:sp>
      <p:sp>
        <p:nvSpPr>
          <p:cNvPr id="147" name="Google Shape;147;p29"/>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02</a:t>
            </a:r>
            <a:endParaRPr>
              <a:solidFill>
                <a:schemeClr val="dk1"/>
              </a:solidFill>
            </a:endParaRPr>
          </a:p>
        </p:txBody>
      </p:sp>
      <p:sp>
        <p:nvSpPr>
          <p:cNvPr id="148" name="Google Shape;148;p29"/>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Zgodovinski izvir slovenskega kmetijstva</a:t>
            </a:r>
            <a:endParaRPr/>
          </a:p>
        </p:txBody>
      </p:sp>
      <p:cxnSp>
        <p:nvCxnSpPr>
          <p:cNvPr id="149" name="Google Shape;149;p29"/>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50" name="Google Shape;150;p29"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Trenutna dinamika</a:t>
            </a:r>
            <a:endParaRPr/>
          </a:p>
        </p:txBody>
      </p:sp>
      <p:sp>
        <p:nvSpPr>
          <p:cNvPr id="156" name="Google Shape;156;p30"/>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03</a:t>
            </a:r>
            <a:endParaRPr>
              <a:solidFill>
                <a:schemeClr val="dk1"/>
              </a:solidFill>
            </a:endParaRPr>
          </a:p>
        </p:txBody>
      </p:sp>
      <p:sp>
        <p:nvSpPr>
          <p:cNvPr id="157" name="Google Shape;157;p30"/>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Dve Sloveniji, en trg</a:t>
            </a:r>
            <a:endParaRPr/>
          </a:p>
        </p:txBody>
      </p:sp>
      <p:cxnSp>
        <p:nvCxnSpPr>
          <p:cNvPr id="158" name="Google Shape;158;p30"/>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59" name="Google Shape;159;p30"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Protislovja</a:t>
            </a:r>
            <a:endParaRPr/>
          </a:p>
        </p:txBody>
      </p:sp>
      <p:sp>
        <p:nvSpPr>
          <p:cNvPr id="165" name="Google Shape;165;p31"/>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04</a:t>
            </a:r>
            <a:endParaRPr>
              <a:solidFill>
                <a:schemeClr val="dk1"/>
              </a:solidFill>
            </a:endParaRPr>
          </a:p>
        </p:txBody>
      </p:sp>
      <p:sp>
        <p:nvSpPr>
          <p:cNvPr id="166" name="Google Shape;166;p31"/>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Pet mest ene same logike</a:t>
            </a:r>
            <a:endParaRPr/>
          </a:p>
        </p:txBody>
      </p:sp>
      <p:cxnSp>
        <p:nvCxnSpPr>
          <p:cNvPr id="167" name="Google Shape;167;p31"/>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68" name="Google Shape;168;p31"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Program</a:t>
            </a:r>
            <a:endParaRPr/>
          </a:p>
        </p:txBody>
      </p:sp>
      <p:sp>
        <p:nvSpPr>
          <p:cNvPr id="174" name="Google Shape;174;p32"/>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05</a:t>
            </a:r>
            <a:endParaRPr>
              <a:solidFill>
                <a:schemeClr val="dk1"/>
              </a:solidFill>
            </a:endParaRPr>
          </a:p>
        </p:txBody>
      </p:sp>
      <p:sp>
        <p:nvSpPr>
          <p:cNvPr id="175" name="Google Shape;175;p32"/>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Odgovori, ne krpanje od krize do krize</a:t>
            </a:r>
            <a:endParaRPr/>
          </a:p>
        </p:txBody>
      </p:sp>
      <p:cxnSp>
        <p:nvCxnSpPr>
          <p:cNvPr id="176" name="Google Shape;176;p32"/>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77" name="Google Shape;177;p32"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228600" y="766500"/>
            <a:ext cx="6204300" cy="293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Pridelek</a:t>
            </a:r>
            <a:endParaRPr/>
          </a:p>
        </p:txBody>
      </p:sp>
      <p:sp>
        <p:nvSpPr>
          <p:cNvPr id="183" name="Google Shape;183;p33"/>
          <p:cNvSpPr txBox="1"/>
          <p:nvPr>
            <p:ph idx="2" type="title"/>
          </p:nvPr>
        </p:nvSpPr>
        <p:spPr>
          <a:xfrm>
            <a:off x="7263300" y="803100"/>
            <a:ext cx="1652100" cy="110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dk1"/>
                </a:solidFill>
              </a:rPr>
              <a:t>06</a:t>
            </a:r>
            <a:endParaRPr>
              <a:solidFill>
                <a:schemeClr val="dk1"/>
              </a:solidFill>
            </a:endParaRPr>
          </a:p>
        </p:txBody>
      </p:sp>
      <p:sp>
        <p:nvSpPr>
          <p:cNvPr id="184" name="Google Shape;184;p33"/>
          <p:cNvSpPr txBox="1"/>
          <p:nvPr>
            <p:ph idx="1" type="subTitle"/>
          </p:nvPr>
        </p:nvSpPr>
        <p:spPr>
          <a:xfrm>
            <a:off x="228600" y="3940200"/>
            <a:ext cx="6505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Kaj želimo požeti</a:t>
            </a:r>
            <a:endParaRPr/>
          </a:p>
        </p:txBody>
      </p:sp>
      <p:cxnSp>
        <p:nvCxnSpPr>
          <p:cNvPr id="185" name="Google Shape;185;p33"/>
          <p:cNvCxnSpPr/>
          <p:nvPr/>
        </p:nvCxnSpPr>
        <p:spPr>
          <a:xfrm>
            <a:off x="250050" y="4340400"/>
            <a:ext cx="3696000" cy="0"/>
          </a:xfrm>
          <a:prstGeom prst="straightConnector1">
            <a:avLst/>
          </a:prstGeom>
          <a:noFill/>
          <a:ln cap="flat" cmpd="sng" w="9525">
            <a:solidFill>
              <a:schemeClr val="dk1"/>
            </a:solidFill>
            <a:prstDash val="solid"/>
            <a:round/>
            <a:headEnd len="med" w="med" type="none"/>
            <a:tailEnd len="med" w="med" type="none"/>
          </a:ln>
        </p:spPr>
      </p:cxnSp>
      <p:pic>
        <p:nvPicPr>
          <p:cNvPr id="186" name="Google Shape;186;p33" title="logo-01.png"/>
          <p:cNvPicPr preferRelativeResize="0"/>
          <p:nvPr/>
        </p:nvPicPr>
        <p:blipFill>
          <a:blip r:embed="rId3">
            <a:alphaModFix/>
          </a:blip>
          <a:stretch>
            <a:fillRect/>
          </a:stretch>
        </p:blipFill>
        <p:spPr>
          <a:xfrm>
            <a:off x="173150" y="136675"/>
            <a:ext cx="1578374" cy="8878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228600" y="228600"/>
            <a:ext cx="4263000" cy="9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Hrana ni blago kot vsako drugo</a:t>
            </a:r>
            <a:endParaRPr/>
          </a:p>
        </p:txBody>
      </p:sp>
      <p:sp>
        <p:nvSpPr>
          <p:cNvPr id="192" name="Google Shape;192;p34"/>
          <p:cNvSpPr txBox="1"/>
          <p:nvPr>
            <p:ph idx="1" type="subTitle"/>
          </p:nvPr>
        </p:nvSpPr>
        <p:spPr>
          <a:xfrm>
            <a:off x="228600" y="2215200"/>
            <a:ext cx="4356000" cy="26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t>Preden smo lahko karkoli drugega — delavci, starši, politiki — smo bitja, ki morajo jesti. A do hrane ne dostopamo neposredno: hrana je blago, do katerega pridemo prek trga in svoje plačilne sposobnosti.</a:t>
            </a:r>
            <a:endParaRPr sz="1050"/>
          </a:p>
          <a:p>
            <a:pPr indent="0" lvl="0" marL="0" rtl="0" algn="l">
              <a:spcBef>
                <a:spcPts val="0"/>
              </a:spcBef>
              <a:spcAft>
                <a:spcPts val="0"/>
              </a:spcAft>
              <a:buNone/>
            </a:pPr>
            <a:r>
              <a:t/>
            </a:r>
            <a:endParaRPr sz="1050"/>
          </a:p>
          <a:p>
            <a:pPr indent="-295275" lvl="0" marL="457200" rtl="0" algn="l">
              <a:spcBef>
                <a:spcPts val="0"/>
              </a:spcBef>
              <a:spcAft>
                <a:spcPts val="0"/>
              </a:spcAft>
              <a:buSzPts val="1050"/>
              <a:buChar char="●"/>
            </a:pPr>
            <a:r>
              <a:rPr lang="en" sz="1050"/>
              <a:t>Kdor nadzoruje dostop do hrane, nadzoruje nekaj temeljnega o tem, kako živimo.</a:t>
            </a:r>
            <a:endParaRPr sz="1050"/>
          </a:p>
          <a:p>
            <a:pPr indent="-295275" lvl="0" marL="457200" rtl="0" algn="l">
              <a:spcBef>
                <a:spcPts val="0"/>
              </a:spcBef>
              <a:spcAft>
                <a:spcPts val="0"/>
              </a:spcAft>
              <a:buSzPts val="1050"/>
              <a:buChar char="●"/>
            </a:pPr>
            <a:r>
              <a:rPr lang="en" sz="1050"/>
              <a:t>Zato je kmetijstvo vedno tudi politično vprašanje — vprašanje moči, ne le agronomije.</a:t>
            </a:r>
            <a:endParaRPr/>
          </a:p>
        </p:txBody>
      </p:sp>
      <p:pic>
        <p:nvPicPr>
          <p:cNvPr id="193" name="Google Shape;193;p34"/>
          <p:cNvPicPr preferRelativeResize="0"/>
          <p:nvPr/>
        </p:nvPicPr>
        <p:blipFill>
          <a:blip r:embed="rId3">
            <a:alphaModFix/>
          </a:blip>
          <a:stretch>
            <a:fillRect/>
          </a:stretch>
        </p:blipFill>
        <p:spPr>
          <a:xfrm>
            <a:off x="4765875" y="1213800"/>
            <a:ext cx="4254600" cy="283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 protislovij, en koren</a:t>
            </a:r>
            <a:endParaRPr/>
          </a:p>
        </p:txBody>
      </p:sp>
      <p:sp>
        <p:nvSpPr>
          <p:cNvPr id="200" name="Google Shape;200;p35"/>
          <p:cNvSpPr txBox="1"/>
          <p:nvPr>
            <p:ph idx="2" type="subTitle"/>
          </p:nvPr>
        </p:nvSpPr>
        <p:spPr>
          <a:xfrm>
            <a:off x="228622" y="1180000"/>
            <a:ext cx="8686800" cy="35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l" sz="1300" b="1">
                <a:latin typeface="Open Sans"/>
                <a:ea typeface="Open Sans"/>
                <a:cs typeface="Open Sans"/>
                <a:sym typeface="Open Sans"/>
              </a:rPr>
              <a:t xml:space="preserve">1  Trg proti tlom   </a:t>
            </a:r>
            <a:r>
              <a:rPr lang="sl" sz="1100">
                <a:latin typeface="Open Sans"/>
                <a:ea typeface="Open Sans"/>
                <a:cs typeface="Open Sans"/>
                <a:sym typeface="Open Sans"/>
              </a:rPr>
              <a:t xml:space="preserve">—  brez rezerv je kmet prisiljen širiti in izčrpavati tla — jesti lastno prihodnost.</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2  SKP v protislovju s seboj   </a:t>
            </a:r>
            <a:r>
              <a:rPr lang="sl" sz="1100">
                <a:latin typeface="Open Sans"/>
                <a:ea typeface="Open Sans"/>
                <a:cs typeface="Open Sans"/>
                <a:sym typeface="Open Sans"/>
              </a:rPr>
              <a:t xml:space="preserve">—  hkrati zahteva večjo konkurenčnost in prehod v trajnost, brez dodatne podpore.</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3  Subvencije proti malim   </a:t>
            </a:r>
            <a:r>
              <a:rPr lang="sl" sz="1100">
                <a:latin typeface="Open Sans"/>
                <a:ea typeface="Open Sans"/>
                <a:cs typeface="Open Sans"/>
                <a:sym typeface="Open Sans"/>
              </a:rPr>
              <a:t xml:space="preserve">—  sistem, vezan na hektarje, sistematično nagrajuje velike, intenzivne kmetije.</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4  Razkol kmet–znanost–okolje   </a:t>
            </a:r>
            <a:r>
              <a:rPr lang="sl" sz="1100">
                <a:latin typeface="Open Sans"/>
                <a:ea typeface="Open Sans"/>
                <a:cs typeface="Open Sans"/>
                <a:sym typeface="Open Sans"/>
              </a:rPr>
              <a:t xml:space="preserve">—  podeželje postane „ovira“ okolju, pravi vzroki pa ostanejo nedotaknjeni.</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5  Podnebje kot pospeševalec   </a:t>
            </a:r>
            <a:r>
              <a:rPr lang="sl" sz="1100">
                <a:latin typeface="Open Sans"/>
                <a:ea typeface="Open Sans"/>
                <a:cs typeface="Open Sans"/>
                <a:sym typeface="Open Sans"/>
              </a:rPr>
              <a:t xml:space="preserve">—  najbolj ranljiva je prav najbolj izčrpana kmetija; ranljivost in odgovornost se kopičita.</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Pridelek, ki ga hočemo</a:t>
            </a:r>
            <a:endParaRPr/>
          </a:p>
        </p:txBody>
      </p:sp>
      <p:sp>
        <p:nvSpPr>
          <p:cNvPr id="208" name="Google Shape;208;p36"/>
          <p:cNvSpPr txBox="1"/>
          <p:nvPr>
            <p:ph idx="1" type="subTitle"/>
          </p:nvPr>
        </p:nvSpPr>
        <p:spPr>
          <a:xfrm>
            <a:off x="4778050" y="1334504"/>
            <a:ext cx="4137300" cy="73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050">
                <a:latin typeface="Open Sans"/>
                <a:ea typeface="Open Sans"/>
                <a:cs typeface="Open Sans"/>
                <a:sym typeface="Open Sans"/>
              </a:rPr>
              <a:t>Ne le žito na polici, ampak nadzor nad lastno preskrbo in neodvisnost od tujih pritiskov.</a:t>
            </a:r>
            <a:endParaRPr/>
          </a:p>
        </p:txBody>
      </p:sp>
      <p:sp>
        <p:nvSpPr>
          <p:cNvPr id="209" name="Google Shape;209;p36"/>
          <p:cNvSpPr txBox="1"/>
          <p:nvPr>
            <p:ph idx="2" type="subTitle"/>
          </p:nvPr>
        </p:nvSpPr>
        <p:spPr>
          <a:xfrm>
            <a:off x="4778050" y="2666116"/>
            <a:ext cx="4136700" cy="73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050">
                <a:latin typeface="Open Sans"/>
                <a:ea typeface="Open Sans"/>
                <a:cs typeface="Open Sans"/>
                <a:sym typeface="Open Sans"/>
              </a:rPr>
              <a:t>Pošten dohodek in varnost, ki omogočata, da kmet obdeluje zemljo brez izčrpavanja prihodnosti.</a:t>
            </a:r>
            <a:endParaRPr/>
          </a:p>
        </p:txBody>
      </p:sp>
      <p:sp>
        <p:nvSpPr>
          <p:cNvPr id="210" name="Google Shape;210;p36"/>
          <p:cNvSpPr txBox="1"/>
          <p:nvPr>
            <p:ph idx="3" type="subTitle"/>
          </p:nvPr>
        </p:nvSpPr>
        <p:spPr>
          <a:xfrm>
            <a:off x="4778050" y="3997725"/>
            <a:ext cx="4136700" cy="73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050">
                <a:latin typeface="Open Sans"/>
                <a:ea typeface="Open Sans"/>
                <a:cs typeface="Open Sans"/>
                <a:sym typeface="Open Sans"/>
              </a:rPr>
              <a:t>Trajnostno in demokratično kmetijstvo kot temelj zdravega okolja in stabilne družbe.</a:t>
            </a:r>
            <a:endParaRPr/>
          </a:p>
        </p:txBody>
      </p:sp>
      <p:sp>
        <p:nvSpPr>
          <p:cNvPr id="211" name="Google Shape;211;p36"/>
          <p:cNvSpPr txBox="1"/>
          <p:nvPr>
            <p:ph idx="4" type="subTitle"/>
          </p:nvPr>
        </p:nvSpPr>
        <p:spPr>
          <a:xfrm>
            <a:off x="4778050" y="979600"/>
            <a:ext cx="4137300" cy="431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Prehranska suverenost</a:t>
            </a:r>
            <a:endParaRPr/>
          </a:p>
        </p:txBody>
      </p:sp>
      <p:sp>
        <p:nvSpPr>
          <p:cNvPr id="212" name="Google Shape;212;p36"/>
          <p:cNvSpPr txBox="1"/>
          <p:nvPr>
            <p:ph idx="5" type="subTitle"/>
          </p:nvPr>
        </p:nvSpPr>
        <p:spPr>
          <a:xfrm>
            <a:off x="4778050" y="2311209"/>
            <a:ext cx="4136700" cy="431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Dostojno življenje kmeta</a:t>
            </a:r>
            <a:endParaRPr/>
          </a:p>
        </p:txBody>
      </p:sp>
      <p:sp>
        <p:nvSpPr>
          <p:cNvPr id="213" name="Google Shape;213;p36"/>
          <p:cNvSpPr txBox="1"/>
          <p:nvPr>
            <p:ph idx="6" type="subTitle"/>
          </p:nvPr>
        </p:nvSpPr>
        <p:spPr>
          <a:xfrm>
            <a:off x="4778050" y="3642819"/>
            <a:ext cx="4136700" cy="431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Odpornost skupnosti</a:t>
            </a:r>
            <a:endParaRPr/>
          </a:p>
        </p:txBody>
      </p:sp>
      <p:pic>
        <p:nvPicPr>
          <p:cNvPr id="214" name="Google Shape;214;p36"/>
          <p:cNvPicPr preferRelativeResize="0"/>
          <p:nvPr/>
        </p:nvPicPr>
        <p:blipFill>
          <a:blip r:embed="rId3">
            <a:alphaModFix/>
          </a:blip>
          <a:stretch>
            <a:fillRect/>
          </a:stretch>
        </p:blipFill>
        <p:spPr>
          <a:xfrm>
            <a:off x="228600" y="979600"/>
            <a:ext cx="4037399" cy="40373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idx="1" type="subTitle"/>
          </p:nvPr>
        </p:nvSpPr>
        <p:spPr>
          <a:xfrm>
            <a:off x="513256" y="1874225"/>
            <a:ext cx="39033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50">
                <a:latin typeface="Open Sans"/>
                <a:ea typeface="Open Sans"/>
                <a:cs typeface="Open Sans"/>
                <a:sym typeface="Open Sans"/>
              </a:rPr>
              <a:t>Majhne kmetije, pogosto polproletarske: kmetijstvo je le dopolnilo k zaposlitvi zunaj kmetije.</a:t>
            </a:r>
            <a:endParaRPr/>
          </a:p>
        </p:txBody>
      </p:sp>
      <p:sp>
        <p:nvSpPr>
          <p:cNvPr id="220" name="Google Shape;220;p37"/>
          <p:cNvSpPr txBox="1"/>
          <p:nvPr>
            <p:ph idx="2" type="subTitle"/>
          </p:nvPr>
        </p:nvSpPr>
        <p:spPr>
          <a:xfrm>
            <a:off x="4727444" y="1874225"/>
            <a:ext cx="39033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50">
                <a:latin typeface="Open Sans"/>
                <a:ea typeface="Open Sans"/>
                <a:cs typeface="Open Sans"/>
                <a:sym typeface="Open Sans"/>
              </a:rPr>
              <a:t>Vzporedno raste število velikih kmetij, kjer se kopičijo zemlja, kapital in proizvodnja.</a:t>
            </a:r>
            <a:endParaRPr/>
          </a:p>
        </p:txBody>
      </p:sp>
      <p:sp>
        <p:nvSpPr>
          <p:cNvPr id="221" name="Google Shape;221;p37"/>
          <p:cNvSpPr txBox="1"/>
          <p:nvPr>
            <p:ph idx="3" type="subTitle"/>
          </p:nvPr>
        </p:nvSpPr>
        <p:spPr>
          <a:xfrm>
            <a:off x="513256" y="3412600"/>
            <a:ext cx="39033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50">
                <a:latin typeface="Open Sans"/>
                <a:ea typeface="Open Sans"/>
                <a:cs typeface="Open Sans"/>
                <a:sym typeface="Open Sans"/>
              </a:rPr>
              <a:t>Na kmetijah delajo skoraj izključno družinski člani; delovna sila je ujeta v družino.</a:t>
            </a:r>
            <a:endParaRPr/>
          </a:p>
        </p:txBody>
      </p:sp>
      <p:sp>
        <p:nvSpPr>
          <p:cNvPr id="222" name="Google Shape;222;p37"/>
          <p:cNvSpPr txBox="1"/>
          <p:nvPr>
            <p:ph idx="4" type="subTitle"/>
          </p:nvPr>
        </p:nvSpPr>
        <p:spPr>
          <a:xfrm>
            <a:off x="4727444" y="3412600"/>
            <a:ext cx="39033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50">
                <a:latin typeface="Open Sans"/>
                <a:ea typeface="Open Sans"/>
                <a:cs typeface="Open Sans"/>
                <a:sym typeface="Open Sans"/>
              </a:rPr>
              <a:t>Ne zaradi nezanimanja, ampak zaradi nizkih dohodkov, šibke socialne varnosti in birokracije.</a:t>
            </a:r>
            <a:endParaRPr/>
          </a:p>
        </p:txBody>
      </p:sp>
      <p:sp>
        <p:nvSpPr>
          <p:cNvPr id="223" name="Google Shape;223;p37"/>
          <p:cNvSpPr txBox="1"/>
          <p:nvPr>
            <p:ph idx="5" type="subTitle"/>
          </p:nvPr>
        </p:nvSpPr>
        <p:spPr>
          <a:xfrm>
            <a:off x="513257" y="1519325"/>
            <a:ext cx="3903300" cy="43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Drobna, preživetvena posest</a:t>
            </a:r>
            <a:endParaRPr/>
          </a:p>
        </p:txBody>
      </p:sp>
      <p:sp>
        <p:nvSpPr>
          <p:cNvPr id="224" name="Google Shape;224;p37"/>
          <p:cNvSpPr txBox="1"/>
          <p:nvPr>
            <p:ph idx="6" type="subTitle"/>
          </p:nvPr>
        </p:nvSpPr>
        <p:spPr>
          <a:xfrm>
            <a:off x="513257" y="3057700"/>
            <a:ext cx="3903300" cy="43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99 % družinsko delo</a:t>
            </a:r>
            <a:endParaRPr/>
          </a:p>
        </p:txBody>
      </p:sp>
      <p:sp>
        <p:nvSpPr>
          <p:cNvPr id="225" name="Google Shape;225;p37"/>
          <p:cNvSpPr txBox="1"/>
          <p:nvPr>
            <p:ph idx="7" type="subTitle"/>
          </p:nvPr>
        </p:nvSpPr>
        <p:spPr>
          <a:xfrm>
            <a:off x="4727408" y="1519325"/>
            <a:ext cx="3903300" cy="43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Velika, koncentrirana proizvodnja</a:t>
            </a:r>
            <a:endParaRPr/>
          </a:p>
        </p:txBody>
      </p:sp>
      <p:sp>
        <p:nvSpPr>
          <p:cNvPr id="226" name="Google Shape;226;p37"/>
          <p:cNvSpPr txBox="1"/>
          <p:nvPr>
            <p:ph idx="8" type="subTitle"/>
          </p:nvPr>
        </p:nvSpPr>
        <p:spPr>
          <a:xfrm>
            <a:off x="4727408" y="3057700"/>
            <a:ext cx="3903300" cy="43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Mladi ne vstopajo</a:t>
            </a:r>
            <a:endParaRPr/>
          </a:p>
        </p:txBody>
      </p:sp>
      <p:sp>
        <p:nvSpPr>
          <p:cNvPr id="227" name="Google Shape;227;p37"/>
          <p:cNvSpPr txBox="1"/>
          <p:nvPr>
            <p:ph type="title"/>
          </p:nvPr>
        </p:nvSpPr>
        <p:spPr>
          <a:xfrm>
            <a:off x="228600" y="228600"/>
            <a:ext cx="8686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Dve Sloveniji kmetijstva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228600" y="1313400"/>
            <a:ext cx="6576000" cy="132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1"/>
                </a:solidFill>
              </a:rPr>
              <a:t>62</a:t>
            </a:r>
            <a:endParaRPr>
              <a:solidFill>
                <a:schemeClr val="dk1"/>
              </a:solidFill>
            </a:endParaRPr>
          </a:p>
        </p:txBody>
      </p:sp>
      <p:sp>
        <p:nvSpPr>
          <p:cNvPr id="233" name="Google Shape;233;p38"/>
          <p:cNvSpPr txBox="1"/>
          <p:nvPr>
            <p:ph idx="1" type="subTitle"/>
          </p:nvPr>
        </p:nvSpPr>
        <p:spPr>
          <a:xfrm>
            <a:off x="4803000" y="3399000"/>
            <a:ext cx="4112400" cy="431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Povprečna starost kmeta (let)</a:t>
            </a:r>
            <a:endParaRPr/>
          </a:p>
        </p:txBody>
      </p:sp>
      <p:cxnSp>
        <p:nvCxnSpPr>
          <p:cNvPr id="234" name="Google Shape;234;p38"/>
          <p:cNvCxnSpPr/>
          <p:nvPr/>
        </p:nvCxnSpPr>
        <p:spPr>
          <a:xfrm>
            <a:off x="4809500" y="3830100"/>
            <a:ext cx="4105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Od izvira do danes</a:t>
            </a:r>
            <a:endParaRPr/>
          </a:p>
        </p:txBody>
      </p:sp>
      <p:sp>
        <p:nvSpPr>
          <p:cNvPr id="267" name="Google Shape;267;p40"/>
          <p:cNvSpPr txBox="1"/>
          <p:nvPr/>
        </p:nvSpPr>
        <p:spPr>
          <a:xfrm>
            <a:off x="414641" y="1518123"/>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Razdrobljena posest</a:t>
            </a:r>
            <a:endParaRPr b="1" sz="1600">
              <a:solidFill>
                <a:schemeClr val="dk1"/>
              </a:solidFill>
              <a:latin typeface="Space Grotesk"/>
              <a:ea typeface="Space Grotesk"/>
              <a:cs typeface="Space Grotesk"/>
              <a:sym typeface="Space Grotesk"/>
            </a:endParaRPr>
          </a:p>
        </p:txBody>
      </p:sp>
      <p:sp>
        <p:nvSpPr>
          <p:cNvPr id="268" name="Google Shape;268;p40"/>
          <p:cNvSpPr txBox="1"/>
          <p:nvPr/>
        </p:nvSpPr>
        <p:spPr>
          <a:xfrm>
            <a:off x="414600" y="1873037"/>
            <a:ext cx="29316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Podedovane majhne kmetije, pogosto v lasti starejših, brez kapitala za rezerve.</a:t>
            </a:r>
            <a:endParaRPr sz="1200">
              <a:solidFill>
                <a:schemeClr val="dk1"/>
              </a:solidFill>
              <a:latin typeface="Hind"/>
              <a:ea typeface="Hind"/>
              <a:cs typeface="Hind"/>
              <a:sym typeface="Hind"/>
            </a:endParaRPr>
          </a:p>
        </p:txBody>
      </p:sp>
      <p:sp>
        <p:nvSpPr>
          <p:cNvPr id="269" name="Google Shape;269;p40"/>
          <p:cNvSpPr txBox="1"/>
          <p:nvPr/>
        </p:nvSpPr>
        <p:spPr>
          <a:xfrm>
            <a:off x="414641" y="2694118"/>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FFFFFF"/>
              </a:buClr>
              <a:buSzPts val="1100"/>
              <a:buFont typeface="Arial"/>
              <a:buNone/>
            </a:pPr>
            <a:r>
              <a:rPr b="1" lang="en" sz="1600">
                <a:solidFill>
                  <a:schemeClr val="dk1"/>
                </a:solidFill>
                <a:latin typeface="Space Grotesk"/>
                <a:ea typeface="Space Grotesk"/>
                <a:cs typeface="Space Grotesk"/>
                <a:sym typeface="Space Grotesk"/>
              </a:rPr>
              <a:t>Socializem</a:t>
            </a:r>
            <a:endParaRPr b="1" sz="1600">
              <a:solidFill>
                <a:schemeClr val="dk1"/>
              </a:solidFill>
              <a:latin typeface="Space Grotesk"/>
              <a:ea typeface="Space Grotesk"/>
              <a:cs typeface="Space Grotesk"/>
              <a:sym typeface="Space Grotesk"/>
            </a:endParaRPr>
          </a:p>
        </p:txBody>
      </p:sp>
      <p:sp>
        <p:nvSpPr>
          <p:cNvPr id="270" name="Google Shape;270;p40"/>
          <p:cNvSpPr txBox="1"/>
          <p:nvPr/>
        </p:nvSpPr>
        <p:spPr>
          <a:xfrm>
            <a:off x="414600" y="3048450"/>
            <a:ext cx="29316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Prestrukturiranje mimo velikih agroindustrijskih kombinatov; drobna posest ostane.</a:t>
            </a:r>
            <a:endParaRPr sz="1200">
              <a:solidFill>
                <a:schemeClr val="dk1"/>
              </a:solidFill>
              <a:latin typeface="Hind"/>
              <a:ea typeface="Hind"/>
              <a:cs typeface="Hind"/>
              <a:sym typeface="Hind"/>
            </a:endParaRPr>
          </a:p>
        </p:txBody>
      </p:sp>
      <p:sp>
        <p:nvSpPr>
          <p:cNvPr id="271" name="Google Shape;271;p40"/>
          <p:cNvSpPr txBox="1"/>
          <p:nvPr/>
        </p:nvSpPr>
        <p:spPr>
          <a:xfrm>
            <a:off x="414641" y="3870113"/>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Tranzicija</a:t>
            </a:r>
            <a:endParaRPr b="1" sz="1600">
              <a:solidFill>
                <a:schemeClr val="dk1"/>
              </a:solidFill>
              <a:latin typeface="Space Grotesk"/>
              <a:ea typeface="Space Grotesk"/>
              <a:cs typeface="Space Grotesk"/>
              <a:sym typeface="Space Grotesk"/>
            </a:endParaRPr>
          </a:p>
        </p:txBody>
      </p:sp>
      <p:sp>
        <p:nvSpPr>
          <p:cNvPr id="272" name="Google Shape;272;p40"/>
          <p:cNvSpPr txBox="1"/>
          <p:nvPr/>
        </p:nvSpPr>
        <p:spPr>
          <a:xfrm>
            <a:off x="414600" y="4227463"/>
            <a:ext cx="29316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Drobna posest se postopoma vključi v periferni kapitalistični trg.</a:t>
            </a:r>
            <a:endParaRPr sz="1200">
              <a:solidFill>
                <a:schemeClr val="dk1"/>
              </a:solidFill>
              <a:latin typeface="Hind"/>
              <a:ea typeface="Hind"/>
              <a:cs typeface="Hind"/>
              <a:sym typeface="Hind"/>
            </a:endParaRPr>
          </a:p>
        </p:txBody>
      </p:sp>
      <p:sp>
        <p:nvSpPr>
          <p:cNvPr id="273" name="Google Shape;273;p40"/>
          <p:cNvSpPr txBox="1"/>
          <p:nvPr/>
        </p:nvSpPr>
        <p:spPr>
          <a:xfrm>
            <a:off x="3843062" y="1518123"/>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Vstop v EU</a:t>
            </a:r>
            <a:endParaRPr b="1" sz="1600">
              <a:solidFill>
                <a:schemeClr val="dk1"/>
              </a:solidFill>
              <a:latin typeface="Space Grotesk"/>
              <a:ea typeface="Space Grotesk"/>
              <a:cs typeface="Space Grotesk"/>
              <a:sym typeface="Space Grotesk"/>
            </a:endParaRPr>
          </a:p>
        </p:txBody>
      </p:sp>
      <p:sp>
        <p:nvSpPr>
          <p:cNvPr id="274" name="Google Shape;274;p40"/>
          <p:cNvSpPr txBox="1"/>
          <p:nvPr/>
        </p:nvSpPr>
        <p:spPr>
          <a:xfrm>
            <a:off x="3843062" y="1877912"/>
            <a:ext cx="29316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Dediščino razdrobljenosti prevlečemo čez tuj sistem subvencij.</a:t>
            </a:r>
            <a:endParaRPr sz="1200">
              <a:solidFill>
                <a:schemeClr val="dk1"/>
              </a:solidFill>
              <a:latin typeface="Hind"/>
              <a:ea typeface="Hind"/>
              <a:cs typeface="Hind"/>
              <a:sym typeface="Hind"/>
            </a:endParaRPr>
          </a:p>
        </p:txBody>
      </p:sp>
      <p:sp>
        <p:nvSpPr>
          <p:cNvPr id="275" name="Google Shape;275;p40"/>
          <p:cNvSpPr txBox="1"/>
          <p:nvPr/>
        </p:nvSpPr>
        <p:spPr>
          <a:xfrm>
            <a:off x="3843062" y="2694118"/>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Skupna kmetijska politika</a:t>
            </a:r>
            <a:endParaRPr b="1" sz="1600">
              <a:solidFill>
                <a:schemeClr val="dk1"/>
              </a:solidFill>
              <a:latin typeface="Space Grotesk"/>
              <a:ea typeface="Space Grotesk"/>
              <a:cs typeface="Space Grotesk"/>
              <a:sym typeface="Space Grotesk"/>
            </a:endParaRPr>
          </a:p>
        </p:txBody>
      </p:sp>
      <p:sp>
        <p:nvSpPr>
          <p:cNvPr id="276" name="Google Shape;276;p40"/>
          <p:cNvSpPr txBox="1"/>
          <p:nvPr/>
        </p:nvSpPr>
        <p:spPr>
          <a:xfrm>
            <a:off x="3843062" y="3050887"/>
            <a:ext cx="29316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Konkurenčnost in trajnost hkrati — sistem, ki ni bil narejen za nas.</a:t>
            </a:r>
            <a:endParaRPr sz="1200">
              <a:solidFill>
                <a:schemeClr val="dk1"/>
              </a:solidFill>
              <a:latin typeface="Hind"/>
              <a:ea typeface="Hind"/>
              <a:cs typeface="Hind"/>
              <a:sym typeface="Hind"/>
            </a:endParaRPr>
          </a:p>
        </p:txBody>
      </p:sp>
      <p:sp>
        <p:nvSpPr>
          <p:cNvPr id="277" name="Google Shape;277;p40"/>
          <p:cNvSpPr txBox="1"/>
          <p:nvPr/>
        </p:nvSpPr>
        <p:spPr>
          <a:xfrm>
            <a:off x="3843062" y="3870113"/>
            <a:ext cx="29316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Danes</a:t>
            </a:r>
            <a:endParaRPr b="1" sz="1600">
              <a:solidFill>
                <a:schemeClr val="dk1"/>
              </a:solidFill>
              <a:latin typeface="Space Grotesk"/>
              <a:ea typeface="Space Grotesk"/>
              <a:cs typeface="Space Grotesk"/>
              <a:sym typeface="Space Grotesk"/>
            </a:endParaRPr>
          </a:p>
        </p:txBody>
      </p:sp>
      <p:sp>
        <p:nvSpPr>
          <p:cNvPr id="278" name="Google Shape;278;p40"/>
          <p:cNvSpPr txBox="1"/>
          <p:nvPr/>
        </p:nvSpPr>
        <p:spPr>
          <a:xfrm>
            <a:off x="3843062" y="4227463"/>
            <a:ext cx="29316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Hind"/>
                <a:ea typeface="Hind"/>
                <a:cs typeface="Hind"/>
                <a:sym typeface="Hind"/>
              </a:rPr>
              <a:t>Strukturni problem razdrobljenosti ni rešen, le prekrit.</a:t>
            </a:r>
            <a:endParaRPr sz="1200">
              <a:solidFill>
                <a:schemeClr val="dk1"/>
              </a:solidFill>
              <a:latin typeface="Hind"/>
              <a:ea typeface="Hind"/>
              <a:cs typeface="Hind"/>
              <a:sym typeface="Hind"/>
            </a:endParaRPr>
          </a:p>
        </p:txBody>
      </p:sp>
      <p:sp>
        <p:nvSpPr>
          <p:cNvPr id="279" name="Google Shape;279;p40"/>
          <p:cNvSpPr/>
          <p:nvPr/>
        </p:nvSpPr>
        <p:spPr>
          <a:xfrm>
            <a:off x="228600" y="1678773"/>
            <a:ext cx="109800" cy="109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0" name="Google Shape;280;p40"/>
          <p:cNvSpPr/>
          <p:nvPr/>
        </p:nvSpPr>
        <p:spPr>
          <a:xfrm>
            <a:off x="228600" y="2892868"/>
            <a:ext cx="109800" cy="109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1" name="Google Shape;281;p40"/>
          <p:cNvSpPr/>
          <p:nvPr/>
        </p:nvSpPr>
        <p:spPr>
          <a:xfrm>
            <a:off x="228600" y="4030763"/>
            <a:ext cx="109800" cy="109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40"/>
          <p:cNvSpPr/>
          <p:nvPr/>
        </p:nvSpPr>
        <p:spPr>
          <a:xfrm>
            <a:off x="3669975" y="1678773"/>
            <a:ext cx="109800" cy="109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40"/>
          <p:cNvSpPr/>
          <p:nvPr/>
        </p:nvSpPr>
        <p:spPr>
          <a:xfrm>
            <a:off x="3669975" y="2854768"/>
            <a:ext cx="109800" cy="109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40"/>
          <p:cNvSpPr/>
          <p:nvPr/>
        </p:nvSpPr>
        <p:spPr>
          <a:xfrm>
            <a:off x="3669975" y="4030763"/>
            <a:ext cx="109800" cy="109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5" name="Google Shape;285;p40"/>
          <p:cNvCxnSpPr>
            <a:stCxn id="279" idx="4"/>
            <a:endCxn id="280" idx="0"/>
          </p:cNvCxnSpPr>
          <p:nvPr/>
        </p:nvCxnSpPr>
        <p:spPr>
          <a:xfrm>
            <a:off x="283500" y="1788573"/>
            <a:ext cx="0" cy="1104300"/>
          </a:xfrm>
          <a:prstGeom prst="straightConnector1">
            <a:avLst/>
          </a:prstGeom>
          <a:noFill/>
          <a:ln cap="flat" cmpd="sng" w="9525">
            <a:solidFill>
              <a:schemeClr val="dk1"/>
            </a:solidFill>
            <a:prstDash val="solid"/>
            <a:round/>
            <a:headEnd len="med" w="med" type="none"/>
            <a:tailEnd len="med" w="med" type="none"/>
          </a:ln>
        </p:spPr>
      </p:cxnSp>
      <p:cxnSp>
        <p:nvCxnSpPr>
          <p:cNvPr id="286" name="Google Shape;286;p40"/>
          <p:cNvCxnSpPr>
            <a:stCxn id="280" idx="4"/>
            <a:endCxn id="281" idx="0"/>
          </p:cNvCxnSpPr>
          <p:nvPr/>
        </p:nvCxnSpPr>
        <p:spPr>
          <a:xfrm>
            <a:off x="283500" y="3002668"/>
            <a:ext cx="0" cy="1028100"/>
          </a:xfrm>
          <a:prstGeom prst="straightConnector1">
            <a:avLst/>
          </a:prstGeom>
          <a:noFill/>
          <a:ln cap="flat" cmpd="sng" w="9525">
            <a:solidFill>
              <a:schemeClr val="dk1"/>
            </a:solidFill>
            <a:prstDash val="solid"/>
            <a:round/>
            <a:headEnd len="med" w="med" type="none"/>
            <a:tailEnd len="med" w="med" type="none"/>
          </a:ln>
        </p:spPr>
      </p:cxnSp>
      <p:cxnSp>
        <p:nvCxnSpPr>
          <p:cNvPr id="287" name="Google Shape;287;p40"/>
          <p:cNvCxnSpPr>
            <a:stCxn id="271" idx="3"/>
            <a:endCxn id="282" idx="2"/>
          </p:cNvCxnSpPr>
          <p:nvPr/>
        </p:nvCxnSpPr>
        <p:spPr>
          <a:xfrm flipH="1" rot="10800000">
            <a:off x="3346241" y="1733663"/>
            <a:ext cx="323700" cy="2352000"/>
          </a:xfrm>
          <a:prstGeom prst="bentConnector3">
            <a:avLst>
              <a:gd fmla="val 50005" name="adj1"/>
            </a:avLst>
          </a:prstGeom>
          <a:noFill/>
          <a:ln cap="flat" cmpd="sng" w="9525">
            <a:solidFill>
              <a:schemeClr val="dk1"/>
            </a:solidFill>
            <a:prstDash val="solid"/>
            <a:round/>
            <a:headEnd len="med" w="med" type="none"/>
            <a:tailEnd len="med" w="med" type="none"/>
          </a:ln>
        </p:spPr>
      </p:cxnSp>
      <p:cxnSp>
        <p:nvCxnSpPr>
          <p:cNvPr id="288" name="Google Shape;288;p40"/>
          <p:cNvCxnSpPr>
            <a:stCxn id="282" idx="4"/>
            <a:endCxn id="283" idx="0"/>
          </p:cNvCxnSpPr>
          <p:nvPr/>
        </p:nvCxnSpPr>
        <p:spPr>
          <a:xfrm>
            <a:off x="3724875" y="1788573"/>
            <a:ext cx="0" cy="1066200"/>
          </a:xfrm>
          <a:prstGeom prst="straightConnector1">
            <a:avLst/>
          </a:prstGeom>
          <a:noFill/>
          <a:ln cap="flat" cmpd="sng" w="9525">
            <a:solidFill>
              <a:schemeClr val="dk1"/>
            </a:solidFill>
            <a:prstDash val="solid"/>
            <a:round/>
            <a:headEnd len="med" w="med" type="none"/>
            <a:tailEnd len="med" w="med" type="none"/>
          </a:ln>
        </p:spPr>
      </p:cxnSp>
      <p:cxnSp>
        <p:nvCxnSpPr>
          <p:cNvPr id="289" name="Google Shape;289;p40"/>
          <p:cNvCxnSpPr>
            <a:stCxn id="283" idx="4"/>
            <a:endCxn id="284" idx="0"/>
          </p:cNvCxnSpPr>
          <p:nvPr/>
        </p:nvCxnSpPr>
        <p:spPr>
          <a:xfrm>
            <a:off x="3724875" y="2964568"/>
            <a:ext cx="0" cy="1066200"/>
          </a:xfrm>
          <a:prstGeom prst="straightConnector1">
            <a:avLst/>
          </a:prstGeom>
          <a:noFill/>
          <a:ln cap="flat" cmpd="sng" w="9525">
            <a:solidFill>
              <a:schemeClr val="dk1"/>
            </a:solidFill>
            <a:prstDash val="solid"/>
            <a:round/>
            <a:headEnd len="med" w="med" type="none"/>
            <a:tailEnd len="med" w="med" type="none"/>
          </a:ln>
        </p:spPr>
      </p:cxnSp>
      <p:sp>
        <p:nvSpPr>
          <p:cNvPr id="290" name="Google Shape;290;p40"/>
          <p:cNvSpPr txBox="1"/>
          <p:nvPr/>
        </p:nvSpPr>
        <p:spPr>
          <a:xfrm>
            <a:off x="7271525" y="4288963"/>
            <a:ext cx="1644000" cy="4311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1600">
                <a:solidFill>
                  <a:schemeClr val="dk1"/>
                </a:solidFill>
                <a:latin typeface="Space Grotesk"/>
                <a:ea typeface="Space Grotesk"/>
                <a:cs typeface="Space Grotesk"/>
                <a:sym typeface="Space Grotesk"/>
              </a:rPr>
              <a:t>danes</a:t>
            </a:r>
            <a:endParaRPr b="1" sz="1600">
              <a:solidFill>
                <a:schemeClr val="dk1"/>
              </a:solidFill>
              <a:latin typeface="Space Grotesk"/>
              <a:ea typeface="Space Grotesk"/>
              <a:cs typeface="Space Grotesk"/>
              <a:sym typeface="Space Grotesk"/>
            </a:endParaRPr>
          </a:p>
        </p:txBody>
      </p:sp>
      <p:cxnSp>
        <p:nvCxnSpPr>
          <p:cNvPr id="291" name="Google Shape;291;p40"/>
          <p:cNvCxnSpPr>
            <a:stCxn id="278" idx="3"/>
            <a:endCxn id="290" idx="1"/>
          </p:cNvCxnSpPr>
          <p:nvPr/>
        </p:nvCxnSpPr>
        <p:spPr>
          <a:xfrm>
            <a:off x="6774662" y="4504513"/>
            <a:ext cx="496800" cy="0"/>
          </a:xfrm>
          <a:prstGeom prst="straightConnector1">
            <a:avLst/>
          </a:prstGeom>
          <a:noFill/>
          <a:ln cap="flat" cmpd="sng" w="9525">
            <a:solidFill>
              <a:schemeClr val="dk1"/>
            </a:solidFill>
            <a:prstDash val="solid"/>
            <a:round/>
            <a:headEnd len="med" w="med" type="none"/>
            <a:tailEnd len="med" w="med" type="none"/>
          </a:ln>
        </p:spPr>
      </p:cxnSp>
      <p:sp>
        <p:nvSpPr>
          <p:cNvPr id="292" name="Google Shape;292;p40"/>
          <p:cNvSpPr txBox="1"/>
          <p:nvPr/>
        </p:nvSpPr>
        <p:spPr>
          <a:xfrm>
            <a:off x="414600" y="934613"/>
            <a:ext cx="1644000" cy="43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Space Grotesk"/>
                <a:ea typeface="Space Grotesk"/>
                <a:cs typeface="Space Grotesk"/>
                <a:sym typeface="Space Grotesk"/>
              </a:rPr>
              <a:t>Začetek</a:t>
            </a:r>
            <a:endParaRPr b="1" sz="1600">
              <a:solidFill>
                <a:schemeClr val="dk1"/>
              </a:solidFill>
              <a:latin typeface="Space Grotesk"/>
              <a:ea typeface="Space Grotesk"/>
              <a:cs typeface="Space Grotesk"/>
              <a:sym typeface="Space Grotesk"/>
            </a:endParaRPr>
          </a:p>
        </p:txBody>
      </p:sp>
      <p:cxnSp>
        <p:nvCxnSpPr>
          <p:cNvPr id="293" name="Google Shape;293;p40"/>
          <p:cNvCxnSpPr>
            <a:stCxn id="292" idx="1"/>
            <a:endCxn id="279" idx="0"/>
          </p:cNvCxnSpPr>
          <p:nvPr/>
        </p:nvCxnSpPr>
        <p:spPr>
          <a:xfrm flipH="1">
            <a:off x="283500" y="1150163"/>
            <a:ext cx="131100" cy="528600"/>
          </a:xfrm>
          <a:prstGeom prst="bentConnector2">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228603" y="1121625"/>
            <a:ext cx="5617500" cy="129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Hvala!</a:t>
            </a:r>
            <a:endParaRPr sz="6000"/>
          </a:p>
        </p:txBody>
      </p:sp>
      <p:sp>
        <p:nvSpPr>
          <p:cNvPr id="311" name="Google Shape;311;p42"/>
          <p:cNvSpPr txBox="1"/>
          <p:nvPr>
            <p:ph idx="4294967295" type="subTitle"/>
          </p:nvPr>
        </p:nvSpPr>
        <p:spPr>
          <a:xfrm>
            <a:off x="228599" y="2318425"/>
            <a:ext cx="5043900" cy="104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rPr lang="en" sz="2400"/>
              <a:t>info@piratskastranka.si</a:t>
            </a:r>
            <a:endParaRPr sz="2400"/>
          </a:p>
          <a:p>
            <a:pPr indent="0" lvl="0" marL="0" rtl="0" algn="l">
              <a:spcBef>
                <a:spcPts val="0"/>
              </a:spcBef>
              <a:spcAft>
                <a:spcPts val="0"/>
              </a:spcAft>
              <a:buNone/>
            </a:pPr>
            <a:r>
              <a:rPr lang="en" sz="2400" u="sng">
                <a:solidFill>
                  <a:schemeClr val="hlink"/>
                </a:solidFill>
                <a:latin typeface="Arial"/>
                <a:ea typeface="Arial"/>
                <a:cs typeface="Arial"/>
                <a:sym typeface="Arial"/>
                <a:hlinkClick r:id="rId3"/>
              </a:rPr>
              <a:t>https://piratskastranka.si</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Pet odgovorov na pet protislovij</a:t>
            </a:r>
            <a:endParaRPr/>
          </a:p>
        </p:txBody>
      </p:sp>
      <p:sp>
        <p:nvSpPr>
          <p:cNvPr id="200" name="Google Shape;200;p35"/>
          <p:cNvSpPr txBox="1"/>
          <p:nvPr>
            <p:ph idx="2" type="subTitle"/>
          </p:nvPr>
        </p:nvSpPr>
        <p:spPr>
          <a:xfrm>
            <a:off x="228622" y="1180000"/>
            <a:ext cx="8686800" cy="35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l" sz="1300" b="1">
                <a:latin typeface="Open Sans"/>
                <a:ea typeface="Open Sans"/>
                <a:cs typeface="Open Sans"/>
                <a:sym typeface="Open Sans"/>
              </a:rPr>
              <a:t xml:space="preserve">1  Poštena veriga   </a:t>
            </a:r>
            <a:r>
              <a:rPr lang="sl" sz="1100">
                <a:latin typeface="Open Sans"/>
                <a:ea typeface="Open Sans"/>
                <a:cs typeface="Open Sans"/>
                <a:sym typeface="Open Sans"/>
              </a:rPr>
              <a:t xml:space="preserve">—  prepoved skritih stroškov, obvezni elementi pogodb, visoke globe; ne sporazumu EU–Mercosur.</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2  Novi temelji preskrbe   </a:t>
            </a:r>
            <a:r>
              <a:rPr lang="sl" sz="1100">
                <a:latin typeface="Open Sans"/>
                <a:ea typeface="Open Sans"/>
                <a:cs typeface="Open Sans"/>
                <a:sym typeface="Open Sans"/>
              </a:rPr>
              <a:t xml:space="preserve">—  državni observatorij verige in javna prehransko-logistična vozlišča v lasti kmetov.</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3  Zadružništvo   </a:t>
            </a:r>
            <a:r>
              <a:rPr lang="sl" sz="1100">
                <a:latin typeface="Open Sans"/>
                <a:ea typeface="Open Sans"/>
                <a:cs typeface="Open Sans"/>
                <a:sym typeface="Open Sans"/>
              </a:rPr>
              <a:t xml:space="preserve">—  davčne olajšave za skupne nakupe, zadružna digitalna platforma, mehanizacijski centri.</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4  Pravičnejše subvencije   </a:t>
            </a:r>
            <a:r>
              <a:rPr lang="sl" sz="1100">
                <a:latin typeface="Open Sans"/>
                <a:ea typeface="Open Sans"/>
                <a:cs typeface="Open Sans"/>
                <a:sym typeface="Open Sans"/>
              </a:rPr>
              <a:t xml:space="preserve">—  zgornja meja na osebo; prioriteta okolju, suši, dobrobiti živali in avtohtonim pasmam.</a:t>
            </a:r>
            <a:endParaRPr sz="1100"/>
          </a:p>
          <a:p>
            <a:pPr indent="0" lvl="0" marL="0" rtl="0" algn="l">
              <a:spcBef>
                <a:spcPts val="800"/>
              </a:spcBef>
              <a:spcAft>
                <a:spcPts val="0"/>
              </a:spcAft>
              <a:buNone/>
            </a:pPr>
            <a:r>
              <a:rPr lang="sl" sz="1300" b="1">
                <a:latin typeface="Open Sans"/>
                <a:ea typeface="Open Sans"/>
                <a:cs typeface="Open Sans"/>
                <a:sym typeface="Open Sans"/>
              </a:rPr>
              <a:t xml:space="preserve">5  Mladi in novi kmetje   </a:t>
            </a:r>
            <a:r>
              <a:rPr lang="sl" sz="1100">
                <a:latin typeface="Open Sans"/>
                <a:ea typeface="Open Sans"/>
                <a:cs typeface="Open Sans"/>
                <a:sym typeface="Open Sans"/>
              </a:rPr>
              <a:t xml:space="preserve">—  zagonski kapital, mentorstvo, Land Mobility Service in praktično izobraževanje z zemljo.</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Dark Theme by Slidesgo">
  <a:themeElements>
    <a:clrScheme name="Simple Light">
      <a:dk1>
        <a:srgbClr val="FFFFFF"/>
      </a:dk1>
      <a:lt1>
        <a:srgbClr val="0D0D0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